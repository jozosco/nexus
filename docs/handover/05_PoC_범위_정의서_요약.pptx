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D6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B4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arallelogram 3"/>
          <p:cNvSpPr/>
          <p:nvPr/>
        </p:nvSpPr>
        <p:spPr>
          <a:xfrm>
            <a:off x="9692640" y="0"/>
            <a:ext cx="1371600" cy="6858000"/>
          </a:xfrm>
          <a:prstGeom prst="parallelogram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0881360" y="0"/>
            <a:ext cx="132588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56032"/>
            <a:ext cx="3657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Nexus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8778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청정원고딕 R"/>
                <a:ea typeface="청정원고딕 R"/>
                <a:cs typeface="청정원고딕 R"/>
              </a:rPr>
              <a:t>PoC Scope Definition —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877824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청정원명조 B"/>
                <a:ea typeface="청정원명조 B"/>
                <a:cs typeface="청정원명조 B"/>
              </a:rPr>
              <a:t>PoC 범위 정의서 — 요약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87782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청정원고딕 R"/>
                <a:ea typeface="청정원고딕 R"/>
                <a:cs typeface="청정원고딕 R"/>
              </a:rPr>
              <a:t>수입 대두유 조달 판단 지원 — 무엇을 했고(In), 무엇을 하지 않았으며(Out), 무엇이 남았는가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8778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0E3E7"/>
                </a:solidFill>
                <a:latin typeface="청정원고딕 R"/>
                <a:ea typeface="청정원고딕 R"/>
                <a:cs typeface="청정원고딕 R"/>
              </a:rPr>
              <a:t>2026년 9월  ·  구매팀장·실무자·팀장·부서장 보고용  ·  사내 한정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0"/>
            <a:ext cx="8778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E0E3E7"/>
                </a:solidFill>
                <a:latin typeface="청정원고딕 R"/>
                <a:ea typeface="청정원고딕 R"/>
                <a:cs typeface="청정원고딕 R"/>
              </a:rPr>
              <a:t>정본: docs/handover/05_PoC_범위_정의서.md (동반: .docx 보고서 · 데이터 자산 목록 .xlsx — 재생성 빌더로 동시 갱신) · 수치는 저장소 실측값(2026-09-13 측정, 2026-09-25 갱신분 병기), 설계 목표치는 '설계값' 표기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822960"/>
          </a:xfrm>
          <a:prstGeom prst="rect">
            <a:avLst/>
          </a:prstGeom>
          <a:solidFill>
            <a:srgbClr val="5D6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11480" y="237744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Nexus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40080"/>
            <a:ext cx="68580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00200"/>
            <a:ext cx="6400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618488"/>
            <a:ext cx="6309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왜 PoC였는가 — 어려움과 원칙 · 범위 In/Out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002536"/>
            <a:ext cx="6949440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0" y="2112264"/>
            <a:ext cx="6400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2130552"/>
            <a:ext cx="6309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확보 데이터 자산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514600"/>
            <a:ext cx="6949440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0" y="2624328"/>
            <a:ext cx="6400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642616"/>
            <a:ext cx="6309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처리 방법 — 여섯 단계와 규율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3026664"/>
            <a:ext cx="6949440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0" y="3136392"/>
            <a:ext cx="6400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154680"/>
            <a:ext cx="6309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산출물과 읽는 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3538728"/>
            <a:ext cx="6949440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0" y="3648456"/>
            <a:ext cx="6400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666744"/>
            <a:ext cx="6309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검증 실적(사실만)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4050792"/>
            <a:ext cx="6949440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72000" y="4160520"/>
            <a:ext cx="6400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4178808"/>
            <a:ext cx="6309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한계·리스크와 후속 단계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4562856"/>
            <a:ext cx="6949440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72000" y="4672584"/>
            <a:ext cx="6400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4690872"/>
            <a:ext cx="6309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최소 운영 요건 · 최근 개선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5074920"/>
            <a:ext cx="6949440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PoC 범위 정의서 요약 · 2026-09 · 사내 한정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01 왜 PoC였는가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PoC는 도착 소요 기간 약 3개월·높은 수입 의존·정보 비대칭 아래에서 '판단 지원 체계가 매일 실제로 돈다'는 것을 실데이터로 증명하는 과제였음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822960" cy="36576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1426464"/>
            <a:ext cx="5344667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세 가지 구조적 어려움과 두 원칙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5454394" cy="8778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22277"/>
                <a:gridCol w="2148701"/>
                <a:gridCol w="1983416"/>
              </a:tblGrid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어려움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내용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PoC가 겨냥한 지점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도착 소요 기간 약 3개월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발주→선적→도착 약 3개월, 문제를 사후에 앎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3개월 앞을 내다보는 준비·경보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높은 수입 의존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식물성유지 82% 수입(2022/23), 조대두유 연 35만~40만 톤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원산지별 도착 단가 차이(약 200 $/톤)를 판단으로 잡을 근거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정보 비대칭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작황·환율·운임·정책·해협을 한 사람이 매일 볼 수 없음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수백 개 지표를 시스템이 감시, 벗어난 것만 통지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3483864"/>
            <a:ext cx="5454395" cy="699515"/>
          </a:xfrm>
          <a:prstGeom prst="rect">
            <a:avLst/>
          </a:prstGeom>
          <a:solidFill>
            <a:srgbClr val="FF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0936" y="3566160"/>
            <a:ext cx="5198363" cy="5532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고정 원칙 ① 판단 지원까지 — 근거 제시, 구매/보류 결정은 사람이 승인(발주·계약·결제 미개입)  ② 검증 전 확률·전망 표현 금지 — 과거 유사 시기는 "과거에 이랬다"까지, 도착가는 "참고 범위"로만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29684"/>
            <a:ext cx="5454395" cy="6126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한 줄: 이 PoC의 산출물은 '매일 아침 판단 근거 1장'과 그것을 만드는 검증된 데이터 체계이며, 구매 실행·이관·사내 데이터는 처음부터 범위 밖이었음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5" y="149961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41363" y="1426464"/>
            <a:ext cx="5344667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범위 안(In) — 6항목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1635" y="1828800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4515" y="1828800"/>
            <a:ext cx="5253227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수집·처리·정제·검증 체계 — 자동 커넥터 12종 + 수동 계열 4종 + 보고서 판독 (가동)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1635" y="2203704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515" y="2203704"/>
            <a:ext cx="5253227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일별 브리프 — 매 영업일 새벽 발행, 9블록(9/25 지정학 동향 추가) (가동)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1635" y="2578608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4515" y="2578608"/>
            <a:ext cx="5253227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1단계 정식 가동 — 핵심 변인·경보·과거 유사 시기, 2026-08-31 (가동)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1635" y="2953512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4515" y="2953512"/>
            <a:ext cx="5253227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2단계 준비 패키지 — 확률 가격 범위의 방법·데이터·절차 확정 후 동결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1635" y="3328416"/>
            <a:ext cx="201168" cy="2148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4515" y="3328416"/>
            <a:ext cx="5253227" cy="2148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3단계 설계 — 구매 시점·물량 3-시뮬레이션 설계·근거 문헌 확정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1635" y="3543300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4515" y="3543300"/>
            <a:ext cx="5253227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지식 자산 — 결정·실패 기록, 위키, 참고문헌 65건, 인수인계 문서(4형식 재생성 빌더 포함)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1635" y="4155948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41363" y="4082796"/>
            <a:ext cx="5344667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범위 밖(Out) — 5항목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1635" y="4485132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4515" y="4485132"/>
            <a:ext cx="5253227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데이터 이관·회사 표준 데이터 플랫폼 통합 — 해당 팀 소관(이관 가능한 형태까지만)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1635" y="4860036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4515" y="4860036"/>
            <a:ext cx="5253227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내부 S&amp;OP/ERP 데이터 — 설계 원칙상 미사용(가용량 부족·임시값 과다)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1635" y="5234940"/>
            <a:ext cx="201168" cy="2148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4515" y="5234940"/>
            <a:ext cx="5253227" cy="2148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구매 실행·자동 주문 — 사람 승인 원칙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1635" y="5449824"/>
            <a:ext cx="201168" cy="2148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4515" y="5449824"/>
            <a:ext cx="5253227" cy="2148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유료 데이터 신규 계약 — 결정 대기 목록으로만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1635" y="5664708"/>
            <a:ext cx="201168" cy="2148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4515" y="5664708"/>
            <a:ext cx="5253227" cy="2148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대두유 외 확장·실시간 갱신 — 범위 고정, 하루 1회 배치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02920" y="6419088"/>
            <a:ext cx="7863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출처: PoC 범위 정의서 §1~§2 · 프로젝트 정의서 §1·§2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PoC 범위 정의서 요약 · 2026-09 · 사내 한정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02 확보 데이터 자산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확보한 데이터 자산은 정형 12계열·비정형 3계열·파생 2계열이며, 대부분 무료 공개 자료이고 사내 데이터는 한 건도 포함되지 않음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822960" cy="36576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26464"/>
          <a:ext cx="11183109" cy="24140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17341"/>
                <a:gridCol w="867655"/>
                <a:gridCol w="1349685"/>
                <a:gridCol w="1349685"/>
                <a:gridCol w="2313747"/>
                <a:gridCol w="964061"/>
                <a:gridCol w="2120935"/>
              </a:tblGrid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원천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유형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공개/유료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기간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규모(실측)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수집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정제·검증 상태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대두유 선물 정산가(시카고)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정형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유료 종량+무료 대조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2010~ 일별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정본 4,177거래일 · 대조 계열 6,565일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API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대조 중앙값 괴리 0.1003%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시세 이력(유지·곡물·에너지·지수)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정형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유료 구독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2010~2026-09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26파일·100,204행·26지표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수동+API 일별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수동↔API 5/5 일치 · 운임지수 정정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관세청 수출입 실적(대두유+14품목)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정형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무료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2010-01~2026-08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191파일·82,833행·901지표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수동+월별 API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값 충돌 하드 실패 · 미완결 월 제거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미국 농무부 수급(WASDE / PSD)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정형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무료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2010~2026-07 / 2017~2025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20,924행·113지표 / 243행·27지표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수동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발표일 기준 시점 정렬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미국 무역통계(GATS)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정형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무료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2010-01~2026-07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121파일·11,080행·64지표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수동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0과 결측 구분 · 한국 4계열 100%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거래소 월별 거래량(ICE)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정형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무료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2010~2026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62파일·8,794행·65지표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수동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손상 2건 재업로드 해소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거시·환율 / 기후 23산지 / 지정학·작황·농업기상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정형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무료 공개 API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2010~ 일·월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실행 시 생성(저장소 미보관)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API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실측 게시일 · 지역 축 분리 · 1일 지연 규칙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시장 보고서 PDF(GAIN·FAO)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비정형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무료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2010~2026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2,038+137건 · 판독 실패 0 → 2,542행·18지표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수동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요약 md → 월별 신호 계열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일별 뉴스·전문 매체·지정학 동향 신호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비정형→정형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무료 RSS+검색 크레딧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2026-08-17~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413행·24지표·7분류(9/24)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검색 요약+RSS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원문 발췌·한국어 헤드라인 보존 · 중복 제거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참고문헌 / 용어·인과 사전 / 분석용 격자표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비정형·설정·파생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공개·자체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—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원문 65건 / 엔티티 214·엣지 24 / 약 4,000일×1,000~1,600지표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수동·자동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38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해시 중복 차단 · 순환 0 · 값 충돌 0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953762"/>
            <a:ext cx="3636263" cy="932688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4953762"/>
            <a:ext cx="54864" cy="932688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0936" y="4990338"/>
            <a:ext cx="3453383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76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5374386"/>
            <a:ext cx="3453383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97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데이터 자산 계열(정형 12 · 비정형 3 · 파생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6343" y="4953762"/>
            <a:ext cx="3636263" cy="932688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276343" y="4953762"/>
            <a:ext cx="54864" cy="932688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404359" y="4990338"/>
            <a:ext cx="3453383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76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3종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4359" y="5374386"/>
            <a:ext cx="3453383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97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유료 항목 — 시세 이력 구독 · 선물 이력 종량 · 실시간 검색 크레딧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9767" y="4953762"/>
            <a:ext cx="3636263" cy="932688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49767" y="4953762"/>
            <a:ext cx="54864" cy="932688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77784" y="4990338"/>
            <a:ext cx="3453383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76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0건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7784" y="5374386"/>
            <a:ext cx="3453383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97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사내 S&amp;OP/ERP 데이터 사용(설계 원칙)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7863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출처: PoC 범위 정의서 §3 (측정 기준일 2026-09-13 · 저장소 실측 · 일별 뉴스 신호는 9/24 기준) · 데이터 자산 목록 .xlsx 시트 '데이터_자산'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PoC 범위 정의서 요약 · 2026-09 · 사내 한정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03 처리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데이터는 여섯 단계로 처리되며, 각 단계에 '확실하지 않으면 멈춘다'는 원칙이 붙어 있어 조용한 실패가 생기지 않음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822960" cy="36576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2148839" cy="329184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57784" y="1426464"/>
            <a:ext cx="203911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① 모은다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55648"/>
            <a:ext cx="2148839" cy="1014984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6072" y="1801368"/>
            <a:ext cx="2002535" cy="9235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매 영업일 새벽 외부 공개 데이터 자동 수집. API로 못 받는 자료는 올려 둔 파일을 정해진 순서로 읽음 — 실패는 눈에 보이게 멈춤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1487" y="1426464"/>
            <a:ext cx="2148839" cy="329184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816351" y="1426464"/>
            <a:ext cx="203911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② 검사한다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1487" y="1755648"/>
            <a:ext cx="2148839" cy="1014984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834639" y="1801368"/>
            <a:ext cx="2002535" cy="9235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품질 점수 5항목 가중 합산 → 통과(0.70↑) / 주의(0.50~0.69) / 불합격(0.50↓) + 구조·이상치 + 자동 테스트 — 0과 빈칸은 다르다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0055" y="1426464"/>
            <a:ext cx="2148839" cy="329184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74919" y="1426464"/>
            <a:ext cx="203911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③ 시점을 맞춘다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0055" y="1755648"/>
            <a:ext cx="2148839" cy="1014984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93207" y="1801368"/>
            <a:ext cx="2002535" cy="9235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모든 숫자에 '언제부터 알 수 있었는가'를 붙임. 8/12 발표 보고서는 8/1 분석에 쓰지 않음 — 발표 전 정보는 쓰지 않음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78623" y="1426464"/>
            <a:ext cx="2148839" cy="329184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33488" y="1426464"/>
            <a:ext cx="203911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④ 한 표로 합친다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78623" y="1755648"/>
            <a:ext cx="2148839" cy="1014984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51775" y="1801368"/>
            <a:ext cx="2002535" cy="9235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날짜 × 지표 격자표 한 장. 각 칸은 그날 기준 알 수 있었던 최근값 — 값이 둘이면 고르지 않고 멈춤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37192" y="1426464"/>
            <a:ext cx="2148839" cy="329184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592056" y="1426464"/>
            <a:ext cx="203911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⑤ 분석·발행·기록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37192" y="1755648"/>
            <a:ext cx="2148839" cy="1014984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10344" y="1801368"/>
            <a:ext cx="2002535" cy="9235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변인 순위 → 경보 → 과거 유사 시기 → 브리프 1장 → 그날 검사 결과 한 줄 기록 — 이상 없음(검사 완료) 표시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825496"/>
            <a:ext cx="2148839" cy="329184"/>
          </a:xfrm>
          <a:prstGeom prst="rect">
            <a:avLst/>
          </a:prstGeom>
          <a:solidFill>
            <a:srgbClr val="5D6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57784" y="2825496"/>
            <a:ext cx="203911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⑥ 외부 교차검증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154680"/>
            <a:ext cx="2148839" cy="725424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76072" y="3200400"/>
            <a:ext cx="2002535" cy="6339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코드·보고서·용어 파일이 바뀌면 외부 대형 언어모델이 재점검, 판정을 기록에 누적 — 정오표 관행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026408"/>
            <a:ext cx="11183111" cy="379476"/>
          </a:xfrm>
          <a:prstGeom prst="rect">
            <a:avLst/>
          </a:prstGeom>
          <a:solidFill>
            <a:srgbClr val="FF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0936" y="4108704"/>
            <a:ext cx="10927080" cy="2331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주황 배경 = 멈추는 관문. 데이터가 빠졌는데 조용히 넘어가면 그날 브리프가 "이상 없음"처럼 보이므로, 빠짐이 있으면 일부러 멈추도록 설계함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625340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12648" y="4552188"/>
            <a:ext cx="1107338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이 규율이 실제로 만든 결과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954524"/>
            <a:ext cx="3636263" cy="932688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502920" y="4954524"/>
            <a:ext cx="54864" cy="932688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30936" y="4991100"/>
            <a:ext cx="3453383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48,789 → 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" y="5375148"/>
            <a:ext cx="3453383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통합 표의 같은 시점 값 충돌 — 축 분리로 전량 해소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6343" y="4954524"/>
            <a:ext cx="3636263" cy="932688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276343" y="4954524"/>
            <a:ext cx="54864" cy="932688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404359" y="4991100"/>
            <a:ext cx="3453383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0건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04359" y="5375148"/>
            <a:ext cx="3453383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발표 시점 정렬 위반(직전 실행)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9767" y="4954524"/>
            <a:ext cx="3636263" cy="932688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8049767" y="4954524"/>
            <a:ext cx="54864" cy="932688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177784" y="4991100"/>
            <a:ext cx="3453383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0.1003%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77784" y="5375148"/>
            <a:ext cx="3453383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기준 가격 정산가 교차검증 중앙값 괴리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02920" y="6419088"/>
            <a:ext cx="7863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출처: PoC 범위 정의서 §4 · 프로젝트 정의서 §5 · 위키 방법론(데이터 품질)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PoC 범위 정의서 요약 · 2026-09 · 사내 한정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04 산출물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산출물은 일별 브리프(9블록)·경보판·일일 검사 기록·월별 심층판·연구 문서·용어집이며, 브리프는 신뢰 스트립이 초록일 때만 그대로 읽음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822960" cy="36576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1426464"/>
            <a:ext cx="5344667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산출물 6종과 위치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5454395" cy="15361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42620"/>
                <a:gridCol w="1090879"/>
                <a:gridCol w="3020896"/>
              </a:tblGrid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산출물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주기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위치·읽는 법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일별 브리프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매 영업일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reports/pipeline/latest/ — 신뢰 스트립 초록 확인 후 9블록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경보판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기준 초과 시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무경보일은 '이상 없음(검사 완료)'. 경보는 '상태'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일일 검사 기록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매 영업일 1줄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data/processed/signed_daily_stamps.csv — 마지막 날짜가 어제인가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월별 심층판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수급 보고서 발표 후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자동 실행 첨부 파일(30일 보관)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연구 문서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수시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docs/research_desk/ — 4-라벨(사실·추론·공백·비교불가)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용어집·방법론·기록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—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docs/wiki/ 7페이지 · 03 용어 포인터 · 04 기록 찾는 법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4601717"/>
            <a:ext cx="5454395" cy="699515"/>
          </a:xfrm>
          <a:prstGeom prst="rect">
            <a:avLst/>
          </a:prstGeom>
          <a:solidFill>
            <a:srgbClr val="FF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0936" y="4684013"/>
            <a:ext cx="5198363" cy="5532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과거 유사 시기는 확률이 아니라 "과거엔 이랬다"의 요약이며, 표본 8회 미만이면 비워 둠. 도착가 범위는 검증 전이라 '참고 범위'로만 부름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1635" y="1426464"/>
            <a:ext cx="5454395" cy="539496"/>
          </a:xfrm>
          <a:prstGeom prst="rect">
            <a:avLst/>
          </a:prstGeom>
          <a:solidFill>
            <a:srgbClr val="FF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59651" y="1508760"/>
            <a:ext cx="5198363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⓪ 신뢰 스트립 — 자동 점검 통과 · 품질 검사 통과 · 경보 n건 (초록이 아니면 아래를 그대로 믿지 않음)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5" y="2112264"/>
            <a:ext cx="1744979" cy="1072896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31635" y="2112264"/>
            <a:ext cx="1744979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23075" y="2185416"/>
            <a:ext cx="156209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1  한눈 요약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5" y="2459736"/>
            <a:ext cx="1562099" cy="6339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종가 · 참고 도착가 범위 · 경보 수 · 데이터 적시성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6343" y="2112264"/>
            <a:ext cx="1744979" cy="1072896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86343" y="2112264"/>
            <a:ext cx="1744979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77783" y="2185416"/>
            <a:ext cx="156209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2  가격 추세와 핵심 변인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7783" y="2459736"/>
            <a:ext cx="1562099" cy="6339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최근 90거래일 그래프 + 급변일(그 날짜 기준 편차) + 상위 변인 5개(기사·연결 근거)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41051" y="2112264"/>
            <a:ext cx="1744979" cy="1072896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9941051" y="2112264"/>
            <a:ext cx="1744979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032491" y="2185416"/>
            <a:ext cx="156209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3  금일 경보(유의 사항)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32491" y="2459736"/>
            <a:ext cx="1562099" cy="6339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기준을 넘은 지표와 근거 — 없으면 '이상 없음(검사 완료)'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5" y="3221736"/>
            <a:ext cx="1744979" cy="1072896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231635" y="3221736"/>
            <a:ext cx="1744979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23075" y="3294888"/>
            <a:ext cx="156209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4  과거 비슷한 시기의 실제 흐름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5" y="3569208"/>
            <a:ext cx="1562099" cy="6339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1주/1개월/3개월 실제 변화 + 변수→대두유 연결 설명 + 관련 변수로 등재된 사례만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86343" y="3221736"/>
            <a:ext cx="1744979" cy="1072896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086343" y="3221736"/>
            <a:ext cx="1744979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177783" y="3294888"/>
            <a:ext cx="156209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5  공급 경로와 해상 위험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7783" y="3569208"/>
            <a:ext cx="1562099" cy="6339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산지 4곳→한국 항로, 요충 해협 상태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1051" y="3221736"/>
            <a:ext cx="1744979" cy="1072896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9941051" y="3221736"/>
            <a:ext cx="1744979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032491" y="3294888"/>
            <a:ext cx="156209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6  주요 지표 현황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32491" y="3569208"/>
            <a:ext cx="1562099" cy="6339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최근값 · 기준일 · 추세 미니 그래프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1635" y="4331208"/>
            <a:ext cx="1744979" cy="928115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231635" y="4331208"/>
            <a:ext cx="1744979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323075" y="4404360"/>
            <a:ext cx="156209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7  지정학 동향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3075" y="4678680"/>
            <a:ext cx="1562099" cy="4892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미국–이란·러시아–EU 검색 요약 + 통신사 기사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86343" y="4331208"/>
            <a:ext cx="1744979" cy="928115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8086343" y="4331208"/>
            <a:ext cx="1744979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177783" y="4404360"/>
            <a:ext cx="156209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8  오늘의 시장 뉴스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77783" y="4678680"/>
            <a:ext cx="1562099" cy="4892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한국어 헤드라인 + 원제 + 원문 링크·인과 경로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41051" y="4331208"/>
            <a:ext cx="1744979" cy="928115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9941051" y="4331208"/>
            <a:ext cx="1744979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032491" y="4404360"/>
            <a:ext cx="156209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9  주목해야 할 일정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32491" y="4678680"/>
            <a:ext cx="1562099" cy="4892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수급 보고서 발표일 · 도착 소요 기간 역산일 · 정책 발효일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02920" y="6419088"/>
            <a:ext cx="7863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출처: PoC 범위 정의서 §5 · 개요(비전문가용) §3 · 2026-09-27 브리프 재설계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PoC 범위 정의서 요약 · 2026-09 · 사내 한정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05 검증 실적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검증 실적은 '맞췄다'가 아니라 사실로만 말함 — 8/31 정식 가동 후 무개입 연속 성공, 교차검증 205건, 그리고 오류를 찾아 정정한 기록 자체가 실적임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822960" cy="36576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1426464"/>
            <a:ext cx="5344667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사실 기준 실적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658617" cy="932688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4864" cy="932688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0936" y="1865376"/>
            <a:ext cx="2475737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8/31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249424"/>
            <a:ext cx="2475737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1단계 정식 가동일 — 자동 실행 2회 연속 전 작업 성공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8697" y="1828800"/>
            <a:ext cx="2658617" cy="932688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298697" y="1828800"/>
            <a:ext cx="54864" cy="932688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426713" y="1865376"/>
            <a:ext cx="2475737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8회 연속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6713" y="2249424"/>
            <a:ext cx="2475737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9/15~9/24 정기 실행 20개 작업 전부 성공 · 9/25 개선 후 첫 완주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52928"/>
            <a:ext cx="2658617" cy="932688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02920" y="2852928"/>
            <a:ext cx="54864" cy="932688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0936" y="2889504"/>
            <a:ext cx="2475737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205건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3273552"/>
            <a:ext cx="2475737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외부 교차검증 누적 — 판정 144 · 미판정 61(재검증 대상)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8697" y="2852928"/>
            <a:ext cx="2658617" cy="932688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298697" y="2852928"/>
            <a:ext cx="54864" cy="932688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426713" y="2889504"/>
            <a:ext cx="2475737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0.1003%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6713" y="3273552"/>
            <a:ext cx="2475737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기준 가격 정산가 대조 중앙값 괴리(교집합 3,957일)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877056"/>
            <a:ext cx="2658617" cy="932688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02920" y="3877056"/>
            <a:ext cx="54864" cy="932688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0936" y="3913632"/>
            <a:ext cx="2475737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0 /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" y="4297680"/>
            <a:ext cx="2475737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값 충돌 / 발표 시점 정렬 위반(직전 실행)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8697" y="3877056"/>
            <a:ext cx="2658617" cy="932688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298697" y="3877056"/>
            <a:ext cx="54864" cy="932688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426713" y="3913632"/>
            <a:ext cx="2475737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31건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6713" y="4297680"/>
            <a:ext cx="2475737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9/25 오류 종합 점검 — 유형별 원인·해결 상태 기록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1635" y="1453896"/>
            <a:ext cx="329184" cy="329184"/>
          </a:xfrm>
          <a:prstGeom prst="round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31635" y="1453896"/>
            <a:ext cx="32918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0547" y="1426464"/>
            <a:ext cx="499719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정정 사례 — 발틱운임지수 수동본 (2026-09-13)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0547" y="1700784"/>
            <a:ext cx="4997195" cy="664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시세 이력 수동본의 발틱운임지수 계열이 2023-01-03 이후 구간에서 구 계열 오류로 확인됨(2023-01-03 값 864.2 → 정정본 1,250). API 값과 대조해 정합이 확인된 정정본을 정본으로 확정, 정정 구간 기준 경보는 재산출 대상 표기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1635" y="2392680"/>
            <a:ext cx="329184" cy="329184"/>
          </a:xfrm>
          <a:prstGeom prst="round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231635" y="2392680"/>
            <a:ext cx="32918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0547" y="2365248"/>
            <a:ext cx="499719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그 밖의 정정 관행 — 오류를 남기는 방식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0547" y="2639568"/>
            <a:ext cx="4997195" cy="664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엘니뇨 지수 절대온도 오독 정정(2026-08-16) / 시장구조 브리프 정오표(2026-08-19) / 브리프 논리 결함 4건 재설계(2026-09-27) — 공통: 원문을 덮어쓰지 않고 정정 이력을 병기, 교차검증 지적은 기록에 누적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1635" y="3441192"/>
            <a:ext cx="5454395" cy="859536"/>
          </a:xfrm>
          <a:prstGeom prst="rect">
            <a:avLst/>
          </a:prstGeom>
          <a:solidFill>
            <a:srgbClr val="FF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359651" y="3523487"/>
            <a:ext cx="5198363" cy="7132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결과 정확도(예측이 맞았는가)는 아직 수치로 주장하지 않음. 현재 신뢰 근거는 처리 과정 검증 4계층(품질 검사 · 발표 시점 정렬 · 일일 검사 기록 · 교차검증)이며, 검사 불합격일(9/6)도 차단·기록된 것이 설계대로 작동한 사례임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02920" y="6419088"/>
            <a:ext cx="7863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출처: PoC 범위 정의서 §6·§6.1 신뢰도 지표 2단계 체계(2026-09-14: 순위 안정성 0.75 · 참고 범위 포함률 75/72/72% · 비정형 도달률 90%) · 일일 검사 기록 · 교차검증 누적 기록 · 오류 종합 보고(2026-09-25)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PoC 범위 정의서 요약 · 2026-09 · 사내 한정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06 한계·후속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한계는 정확도·소스 장애·유료 의존·지식 이전이며, 2단계 재개는 네 조건이 모두 충족될 때 별도 승인으로 진행함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822960" cy="36576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1426464"/>
            <a:ext cx="5344667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한계·리스크와 완화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5454395" cy="10972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56993"/>
                <a:gridCol w="2148701"/>
                <a:gridCol w="2148701"/>
              </a:tblGrid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리스크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내용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완화 장치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정확도 한계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1단계는 예측이 아닌 '참조'. 확률 산출물(2단계)은 미검증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한계 문구 상시 표기 · 금지어 자동 검사 · 미검증 산출물 동결 · 사람 승인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데이터 소스 장애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외부 기관 API 장애·형식 변경·시간대별 불안정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하나 실패해도 진행 · 폴백 · 수동 이력 커버 · 실패 표면화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유료 데이터 의존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구독·종량·크레딧 3종이 끊기면 해당 수집 정지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법인 귀속 확인 · 무료 대체 경로 병행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지식 이전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규율을 모르면 '멈춤=고장' 오인·조용한 통과로 회귀 위험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문서 7종 · 기록 · 5분 체크리스트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3856481"/>
            <a:ext cx="5454395" cy="699515"/>
          </a:xfrm>
          <a:prstGeom prst="rect">
            <a:avLst/>
          </a:prstGeom>
          <a:solidFill>
            <a:srgbClr val="FF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0936" y="3938777"/>
            <a:ext cx="5198363" cy="5532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유료 데이터 신규 계약은 PoC 범위 밖 — 후보는 결정 대기 목록(docs/research_desk/decision_queue.md)으로만 관리함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1635" y="149961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41363" y="1426464"/>
            <a:ext cx="5344667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2단계 재개 조건 4가지 — 시범판 실현성 평가(9/14): 동결 유지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5" y="1856231"/>
            <a:ext cx="329184" cy="329184"/>
          </a:xfrm>
          <a:prstGeom prst="round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31635" y="1856231"/>
            <a:ext cx="32918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0547" y="1828800"/>
            <a:ext cx="499719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실시간 검증 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0547" y="2103120"/>
            <a:ext cx="4997195" cy="3596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60거래일 첫 실측 대조는 가동 후 약 3개월, 계절 1주기·비중복 표본 4건은 2027년 이후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1635" y="2490216"/>
            <a:ext cx="329184" cy="329184"/>
          </a:xfrm>
          <a:prstGeom prst="round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31635" y="2490216"/>
            <a:ext cx="32918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0547" y="2462784"/>
            <a:ext cx="499719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추가 시장 데이터 3종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0547" y="2737104"/>
            <a:ext cx="4997195" cy="2072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대두박·대두 정산가, 옵션 내재변동성 — 승인 완료·수령 대기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5" y="2971799"/>
            <a:ext cx="329184" cy="329184"/>
          </a:xfrm>
          <a:prstGeom prst="round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31635" y="2971799"/>
            <a:ext cx="32918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0547" y="2944368"/>
            <a:ext cx="499719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운영 실행 환경 확정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0547" y="3218687"/>
            <a:ext cx="4997195" cy="2072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회사 표준 데이터 플랫폼의 배치 실행 표면(해당 팀 소관)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5" y="3453383"/>
            <a:ext cx="329184" cy="329184"/>
          </a:xfrm>
          <a:prstGeom prst="round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31635" y="3453383"/>
            <a:ext cx="32918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0547" y="3425951"/>
            <a:ext cx="499719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인수 측 해석 훈련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0547" y="3700271"/>
            <a:ext cx="4997195" cy="2072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1단계 산출물 읽는 훈련 완료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1635" y="4117848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41363" y="4044696"/>
            <a:ext cx="5344667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3단계 설계 정본 · 우선 추가 데이터 후보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1635" y="4447032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4515" y="4447032"/>
            <a:ext cx="5253227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3단계 — 현시점/대안 시점/분할 구매의 톤당 기회손실 비교(회사 실손익 미계산). 2단계 가동 후 착수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1635" y="4821936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4515" y="4821936"/>
            <a:ext cx="5253227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P0(무료·소액) — 대두박·대두 정산가(수령 대기) · 선물 포지션 주간 통계(미구현)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1635" y="5196840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4515" y="5196840"/>
            <a:ext cx="5253227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P1 — 옵션 내재변동성 · 팜유 재고·수출 · 수급 유종별 분해 · 실측 호가·탱커 운임(견적·결정 대기)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02920" y="6419088"/>
            <a:ext cx="7863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출처: PoC 범위 정의서 §7~§8 · 2단계 추가 데이터 요구 정리(2026-09-09) · 결정 대기 목록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PoC 범위 정의서 요약 · 2026-09 · 사내 한정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07 최소 운영 요건 · 최근 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최소 운영 요건은 일별 5분 점검·실패 시 조치 순서·월 1회 점검이며, 9월 25~27일 개선으로 지정학 동향 편입과 브리프 논리 결함 4건 재설계를 마침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822960" cy="36576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744979" cy="1796796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426464"/>
            <a:ext cx="1744979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1499616"/>
            <a:ext cx="156209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日  일별 점검 (5분)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73936"/>
            <a:ext cx="1562099" cy="13578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실행 환경 최근 3회가 초록인가 / 일일 검사 기록 마지막 날짜가 어제인가 / 최신 브리프의 "미수집" 빈 블록 수 / 실패 시 멈춘 지점이 수집인가 검사인가 / 결정 대기 목록 기한 항목</a:t>
            </a:r>
          </a:p>
        </p:txBody>
      </p:sp>
      <p:sp>
        <p:nvSpPr>
          <p:cNvPr id="9" name="Rectangle 8"/>
          <p:cNvSpPr/>
          <p:nvPr/>
        </p:nvSpPr>
        <p:spPr>
          <a:xfrm>
            <a:off x="2357628" y="1426464"/>
            <a:ext cx="1744979" cy="1796796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2357628" y="1426464"/>
            <a:ext cx="1744979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449068" y="1499616"/>
            <a:ext cx="156209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!  실패 시 조치 순서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9068" y="1773936"/>
            <a:ext cx="1562099" cy="13578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① 멈춘 지점 확인 ② 검사 단계면 데이터 불량인지 파일 미도착인지 구분 ③ 값 충돌이면 지역·국가 축 의심 ④ 수동 재실행 → 검사 기록 확인 ⑤ 원인·조치 기록(오류 보고 4항목 양식)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2335" y="1426464"/>
            <a:ext cx="1744979" cy="1796796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212335" y="1426464"/>
            <a:ext cx="1744979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03775" y="1499616"/>
            <a:ext cx="156209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月  월 1회 점검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3775" y="1773936"/>
            <a:ext cx="1562099" cy="13578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수동 업로드 계열 갱신 / 유료 구독 갱신·크레딧 · API 키 만료 / 결정 대기 목록 정리 · 교차검증 미판정 재검증 / 주간 진행 현황 초안 확정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424428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12648" y="3351276"/>
            <a:ext cx="5344667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문서 7종 포인터 (읽는 순서)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" y="3753612"/>
          <a:ext cx="5454394" cy="131673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11349"/>
                <a:gridCol w="1874948"/>
                <a:gridCol w="3068097"/>
              </a:tblGrid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순서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문서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무엇이 있나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0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프로젝트 정의서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최종 목표·단계별 목표·필요성·분석 유형·사용 데이터·처리 방법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1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개요(비전문가용)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3분 요약 · 매일 아침 무슨 일이 일어나는지 · 브리프 읽는 법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2·3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작업정의서 · 워크플로우 지도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지금까지 한 일 6유형 · 자동 실행 19종과 결과 위치 · 5분 체크리스트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4·5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용어 포인터 · 기록 찾는 법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핵심 용어 20개 · 결정·실패 기록을 되짚는 표준 경로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7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PoC 범위 정의서(본 문서)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범위 In/Out · 데이터 자산 실측표 · 검증 실적 · 후속 단계 · 최소 운영 요건 · 최근 개선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6231635" y="149961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41363" y="1426464"/>
            <a:ext cx="5344667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최근 개선(2026-09-25~27)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31635" y="1828800"/>
          <a:ext cx="5454395" cy="175564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34048"/>
                <a:gridCol w="3920347"/>
              </a:tblGrid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항목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내용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지정학 동향 편입(9/25)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미국–이란·러시아–EU 검색 요약 2종 + 통신사 지정학 기사 → 브리프 블록 신설, 온톨로지 용어 2건 등재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변동일 편차(9/27)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4건이 같은 값이던 결함 — 그 날짜 기준 원시 계열로 재계산, 관측 없으면 '당시 값 없음'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변인–기사 연결(9/27)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용어·인과 사전 파생 키워드·등재 경로로 정량+비정형 하이브리드, 창 14일, 변인마다 연결 근거 한 줄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유사 시기 사례(9/27)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변수–사례 관련성 필터(관련 변수 등재) + 변수→대두유 연결 설명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한국어 헤드라인(9/27)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수집 단계에서 기사별 한국어 헤드라인 생성·캐시(일 상한 60건·실패는 원제), 브리프 뉴스·매체·지정학 카드 적용 — 실판정은 자동 실행 결과로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오류 종합 보고(9/25)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31건을 4유형으로 분류 — 항목별 원인(확정/추정)·해결 상태·지원 필요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시장구조 갱신(9/25)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기업 증설·실적 귀속·정책 시행일을 검증 후 온톨로지 반영(정정 3건 포함)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7863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출처: PoC 범위 정의서 §9·§10 · 워크플로우 지도 §3~§4 · 워크플로우 오류 종합 보고(2026-09-25) · 브리프 재설계 회귀 테스트(2026-09-27)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PoC 범위 정의서 요약 · 2026-09 · 사내 한정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