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554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1488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대두유 조달 판단 지원 체계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인수인계 보고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E8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이관 및 유지보수 체계 승인 요청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83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 ·  부서장 승인용  ·  사내 한정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기준: 프로젝트 정의서·인수인계 문서 묶음(2026-09-11) · 2단계 범위 재정의 승인(2026-09)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1단계(핵심 변인·경보·과거 유사 시기 참조)는 정식 가동 중이며, 운영 이관과 유지보수 체계의 승인을 요청함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프로젝트 정의서(2026-09-11) · 개요(비전문가용) · 2단계 추가 데이터 요구 정리 §7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3가지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27632"/>
            <a:ext cx="6949440" cy="1481328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64792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764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37360"/>
            <a:ext cx="6190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만들었나 — 매일 아침 자동으로 만들어지는 판단 근거 1장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249424"/>
            <a:ext cx="66202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영업일 05:30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공개 데이터 9계열 자동 수집 → 품질 검사 3단계 → 분석 → 일일 브리프 발행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2026-08-31 정식 가동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사람 개입 없이 연속 성공(최근 실행 20개 작업 전부 성공)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236976"/>
            <a:ext cx="6949440" cy="1481328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3346704"/>
            <a:ext cx="6190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약속하지 않나 — 구매 실행·확률 주장·금액 성과는 없음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" y="3858768"/>
            <a:ext cx="66202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근거와 기록까지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제공하고, 구매/보류 결정은 담당자가 승인함(자동 실행 구간 없음)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전에는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"확률 ○%"·절감액 같은 표현을 쓰지 않음 — 과거 관측의 요약과 참고 범위까지만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6949440" cy="1481328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98348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" y="4956048"/>
            <a:ext cx="6190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2단계는 검증 가능 시점까지 동결, 3단계는 설계 단계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5468112"/>
            <a:ext cx="66202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2단계(확률 가격 범위)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검증이 2027년 이후에야 가능해 '준비 패키지'로 동결(재개 조건 명시)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 체계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담당 1인 + 일별 5분 점검 + 월 1회 점검으로 현 수준 유지 가능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0" y="1280160"/>
            <a:ext cx="3916375" cy="4828032"/>
          </a:xfrm>
          <a:prstGeom prst="rect">
            <a:avLst/>
          </a:prstGeom>
          <a:solidFill>
            <a:srgbClr val="E8ECF3"/>
          </a:solidFill>
          <a:ln w="12700">
            <a:solidFill>
              <a:srgbClr val="E8ECF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01000" y="141732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 사항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001000" y="1874520"/>
            <a:ext cx="3459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운영 이관·유지보수 체계 승인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운영 담당 지정, 일별·월별 점검 루틴 채택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유료 구독 5종의 법인 귀속·갱신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구독이 끊기면 수집이 멈추므로 결제·계정 주체 확정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2단계 동결·재개 조건 확인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검증 산술과 규율에 근거한 범위 재정의 인지</a:t>
            </a:r>
            <a:endParaRPr lang="en-US" sz="125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인수 측 해석 훈련 일정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1단계 산출물(변인·유사 시기)을 읽는 훈련 2~3회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0" y="5074920"/>
            <a:ext cx="3459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시 효과: 매일 아침 판단 근거가 끊기지 않고 제공되며, 향후 고도화(2·3단계)는 검증 조건이 충족될 때 별도 승인으로 재개함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대두유 조달은 리드타임 약 3개월·높은 수입 의존·정보 비대칭이 겹쳐, 사후 대응에서 선제 판단 지원으로의 전환이 필요함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README §1 · 프로젝트 정의서 §2(한국 식물성유지 수입 의존 82%, 2022/23 · 관세청 실적 기반 원산지별 도착 단가)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필요한가 — 현재 구조의 세 가지 문제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27632"/>
          <a:ext cx="6766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606040"/>
                <a:gridCol w="2606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문제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AS-IS (현재)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TO-BE (지향)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대응이 늦음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뒤늦은 뉴스와 무료 지수를 따라감 — 이미 움직인 뒤에 앎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구조가 바뀌는 순간을 자료에서 먼저 감지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근거가 주관적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실무자의 경험·직관에 의존, 재현이 어려움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정량 모델과 객관 데이터 신호를 매일 같은 방식으로 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리드타임 3개월의 위험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발주→선적→도착 약 3개월, 문제를 사후 발견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앞을 내다보는 준비·경보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92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 → TO-BE 한눈에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315968"/>
            <a:ext cx="3154680" cy="169164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7512" y="4425696"/>
            <a:ext cx="2852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  수작업 정보 취합·사후 대응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67512" y="4937760"/>
            <a:ext cx="2825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실무자 1인이 작황·환율·운임·정책·해협 상황을 개별 확인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초과 여부를 사람이 기억에 의존해 판단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"왜 그때 그렇게 봤나" 기록이 남지 않음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30752" y="5029200"/>
            <a:ext cx="310896" cy="274320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14800" y="4315968"/>
            <a:ext cx="3154680" cy="169164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79392" y="4425696"/>
            <a:ext cx="2852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  매일 아침 자동 브리프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279392" y="4937760"/>
            <a:ext cx="2825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05:30 자동 수집·검사·분석 후 브리프 1장 발행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변수 통지(경보) + 과거 유사 시기 실측 참조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"무엇을 검사했는지" 서명 기록 누적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80960" y="1280160"/>
            <a:ext cx="4007815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09560" y="138988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 — 작은 차이가 크게 남는 이유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909560" y="1783080"/>
            <a:ext cx="3550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82%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2368296"/>
            <a:ext cx="3550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식물성유지 공급의 수입 의존율(2022/23)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909560" y="2971800"/>
            <a:ext cx="3550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35만~40만 톤/년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3557016"/>
            <a:ext cx="3550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조대두유 수입 규모 — 대두유는 팜유 다음 두 번째 유종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160520"/>
            <a:ext cx="3550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200 $/톤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4745736"/>
            <a:ext cx="3550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원산지별 도착 단가 중앙값 차이(아르헨티나 1,183 vs 미국 1,383)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5257800"/>
            <a:ext cx="3550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언제·어디서 사느냐는 판단의 문제이며, 그 판단을 뒷받침할 근거를 매일 갖추는 것이 이 과제의 이유임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영업일 05:30 외부 데이터를 자동 수집·검사·분석해 일일 브리프를 발행하며, 구매·보류 결정은 담당자가 승인함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개요(비전문가용) §2 · 워크플로우 지도 §1 (일별 사슬 20개 작업)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 시스템인가 — 매일 아침 5단계 자동 흐름 (시장 개장 07:00 전 완료)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988454" cy="233172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755648"/>
            <a:ext cx="17141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94560"/>
            <a:ext cx="171413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공개 데이터 9계열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(시세·환율 / 운임 / 작황·수급 / 기후 / 선물 종가 / 지정학 / 생산·수출 / 수입통계 / 지리·재난)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뉴스·전문 매체 요약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8806" y="2674620"/>
            <a:ext cx="256032" cy="274320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02270" y="1645920"/>
            <a:ext cx="1988454" cy="2331720"/>
          </a:xfrm>
          <a:prstGeom prst="rect">
            <a:avLst/>
          </a:prstGeom>
          <a:solidFill>
            <a:srgbClr val="FBF1E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39430" y="1755648"/>
            <a:ext cx="17141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품질 게이트 3종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39430" y="2194560"/>
            <a:ext cx="171413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⑴ 품질 점수 5항목 가중 합산(0.70 이상 통과)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⑵ 구조·이상치 검사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⑶ 자동 테스트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불합격이면 여기서 멈춤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18156" y="2674620"/>
            <a:ext cx="256032" cy="274320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01620" y="1645920"/>
            <a:ext cx="1988454" cy="2331720"/>
          </a:xfrm>
          <a:prstGeom prst="rect">
            <a:avLst/>
          </a:prstGeom>
          <a:solidFill>
            <a:srgbClr val="FBF1E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8780" y="1755648"/>
            <a:ext cx="17141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준비도 판정·표 작성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38780" y="2194560"/>
            <a:ext cx="171413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"꼭 필요한 데이터가 오늘 다 있는가" 판정 후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'날짜 × 지표' 격자표 작성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시점 값이 둘이면 고르지 않고 멈춤)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17507" y="2674620"/>
            <a:ext cx="256032" cy="274320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00971" y="1645920"/>
            <a:ext cx="1988454" cy="233172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38131" y="1755648"/>
            <a:ext cx="17141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분석·브리프 발행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38131" y="2194560"/>
            <a:ext cx="171413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변인 순위 → 경보 판정 →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유사 시기 조회 →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브리프 1장 발행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6857" y="2674620"/>
            <a:ext cx="256032" cy="274320"/>
          </a:xfrm>
          <a:prstGeom prst="rightArrow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00321" y="1645920"/>
            <a:ext cx="1988454" cy="233172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37481" y="1755648"/>
            <a:ext cx="17141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서명 스탬프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37481" y="2194560"/>
            <a:ext cx="171413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게이트 상태·경보 수·검증 상태를 한 줄로 기록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(사슬이 어디서 멈췄든 이 기록은 남음)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50792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배경 = 멈추는 관문. 데이터가 빠졌는데 조용히 넘어가면 그날 브리프가 "이상 없음"처럼 보이므로, 빠짐이 있으면 일부러 멈추도록 설계함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526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지원 원칙 — 시스템은 제안하고 사람이 승인함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4846320"/>
            <a:ext cx="3521354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" y="4956048"/>
            <a:ext cx="3219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추천 · 사람 승인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" y="5468112"/>
            <a:ext cx="31921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구매/보류 결정과 발주·계약·결제는 담당자의 승인 절차를 거침. 시스템은 참고 신호까지만 제공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35170" y="4846320"/>
            <a:ext cx="3521354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99762" y="4956048"/>
            <a:ext cx="3219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실패는 눈에 보이게 멈춤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99762" y="5468112"/>
            <a:ext cx="31921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데이터를 조용히 넘기지 않음. 불합격·값 충돌·준비도 미달은 그 자리에서 중단하고 기록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67421" y="4846320"/>
            <a:ext cx="3521354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2013" y="4956048"/>
            <a:ext cx="32196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전 확률·전망 표현 금지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013" y="5468112"/>
            <a:ext cx="319217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유사 시기는 "과거엔 이랬다"까지, 도착가 범위는 "참고 범위"로만 표기 — 금지어 자동 검사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브리프는 한 장에 8개 블록으로 구성되며, 맨 위 신뢰 스트립이 초록일 때만 아래 내용을 그대로 읽음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개요(비전문가용) §3.1 브리프 화면 구성 · 용어 포인터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읽는 법 — 실무 적용 기준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45920"/>
            <a:ext cx="42976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스트립부터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게이트 통과·경보 수·검증 상태가 초록이 아니면 아래 숫자를 그대로 믿지 않음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 요약 4개 숫자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전 거래일 종가, 참고 도착가 범위, 경보 수, 데이터 적시성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경보는 '상태'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기준을 넘어 들어가고 나올 때 알림. 없는 날은 "이상 없음(검사 완료)"으로 표시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유사 시기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확률이 아니라 "과거엔 이랬다". 표본 8회 미만이면 비워 둠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미수집은 그대로 표기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데이터가 없으면 꾸미지 않고 "미수집"이라고 씀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블록 4단 요약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[현황] → [요인] → [전망] → [유의·권고] 문장이 붙음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166360" y="1280160"/>
            <a:ext cx="652241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2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1417320"/>
            <a:ext cx="6248095" cy="384048"/>
          </a:xfrm>
          <a:prstGeom prst="rect">
            <a:avLst/>
          </a:prstGeom>
          <a:solidFill>
            <a:srgbClr val="E6F2EA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22392" y="1417320"/>
            <a:ext cx="6065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⓪ 신뢰 스트립 — 자동 점검 통과 ✔ · 데이터 품질 검사 통과 · 경보 n건  (초록이 아니면 아래를 그대로 믿지 않음)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03520" y="1920240"/>
            <a:ext cx="305546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13248" y="199339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한눈 요약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13248" y="230428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· 참고 도착가 범위 · 경보 수 · 적시성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496148" y="1920240"/>
            <a:ext cx="305546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05876" y="199339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가격 추세와 핵심 변인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605876" y="230428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90거래일 그래프 + 상위 변인 5개(급변일 번호 표시)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0" y="2926080"/>
            <a:ext cx="3055468" cy="91440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13248" y="299923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금일 경보 (유의 사항)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13248" y="331012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넘은 지표와 근거 — 없으면 '이상 없음(검사 완료)'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96148" y="2926080"/>
            <a:ext cx="3055468" cy="91440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05876" y="299923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과거 비슷한 시기의 실제 흐름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605876" y="331012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상태였던 과거 시기의 1주/1개월/3개월 실제 변화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303520" y="3931920"/>
            <a:ext cx="305546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13248" y="400507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공급 경로와 해상 위험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13248" y="431596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산지 4곳→한국 항로, 요충 해협 상태 — 정상 항로는 설명 생략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496148" y="3931920"/>
            <a:ext cx="305546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05876" y="400507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주요 지표 현황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605876" y="431596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지표 최근값 · 기준일 · 추세 미니 그래프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303520" y="4937760"/>
            <a:ext cx="305546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13248" y="501091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오늘의 시장 뉴스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13248" y="532180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뉴스·전문 매체 + 원문 링크·인과 경로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96148" y="4937760"/>
            <a:ext cx="3055468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05876" y="5010912"/>
            <a:ext cx="2836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주목해야 할 일정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605876" y="5321808"/>
            <a:ext cx="2836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수급 보고서 발표일 · 리드타임 역산일 · 정책 발효일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303520" y="5861304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= 실무자가 매일 가장 먼저 보는 두 블록(경보·과거 유사 시기)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외부 공개 자료 전용이며 무료 API·수동 업로드·유료 구독 세 경로로 모으고, 사내 판매·재고 데이터는 설계상 사용하지 않음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프로젝트 정의서 §4(사용 데이터) · 라이브러리·프로그램 인벤토리 §2.2(유료 구독 명칭)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경로 3가지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27632"/>
            <a:ext cx="3545738" cy="132588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" y="1737360"/>
            <a:ext cx="32439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무료 API (키 발급만)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249424"/>
            <a:ext cx="32165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FRED(미국 연준)·한국은행·통계청·USDA·NOAA·Open-Meteo·NASA 등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영업일 05:30 자동 수집 — 커넥터 12종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2978" y="1627632"/>
            <a:ext cx="3545738" cy="132588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7570" y="1737360"/>
            <a:ext cx="32439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업로드 공개 자료 (4계열)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87570" y="2249424"/>
            <a:ext cx="32165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관세청 수출입 실적(191파일·82,833행)·USDA 수급·무역·시세 이력·거래소 거래량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보고서 PDF 2,227건 판독(실패 0건)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43037" y="1627632"/>
            <a:ext cx="3545738" cy="1325880"/>
          </a:xfrm>
          <a:prstGeom prst="rect">
            <a:avLst/>
          </a:prstGeom>
          <a:solidFill>
            <a:srgbClr val="FBF1E3"/>
          </a:solidFill>
          <a:ln w="9525">
            <a:solidFill>
              <a:srgbClr val="FBF1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7629" y="1737360"/>
            <a:ext cx="32439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구독·종량 (5종)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07629" y="2249424"/>
            <a:ext cx="32165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Trading Economics(시세 이력)·Databento(선물 정산가)·Perplexity(실시간 검색)·OpenAI·Anthropic(교차검증)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결제·계정 주체 확정이 인수 항목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090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정리 (정형 · 비정형)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7863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91840"/>
                <a:gridCol w="1554480"/>
                <a:gridCol w="91440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시세·환율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대두유 선물 종가, 원/달러·헤알/달러, 미국 금리·물가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종량 + 무료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운임·해상 위험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건화물 운임지수, 탱커 운임 대용값, 해협 통과 선박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구독 + 무료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수급·작황 / 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USDA 수급 전망·작황·수출, 관세청 품목·국가별 실적(대두유 + 대체·보완 14품목)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업로드 + 공개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월·주·연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산지 기상(기온·강수·토양수분), 엘니뇨 지수, 산불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일·월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지정학·정책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지정학 위험 지수, 국제 사건 기록, 해협·수출세·관세 뉴스 대용값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+ 검색 크레딧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정형+비정형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일·월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정성·뉴스·보고서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USDA·FAO 시장 보고서 PDF, 전문 매체 소식, 일별 뉴스 7분류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수동 업로드·공개 + 크레딧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비정형→월별 계열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수시·일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686800" y="3401568"/>
            <a:ext cx="3001975" cy="25146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869680" y="3493008"/>
            <a:ext cx="2636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원칙: 사내 데이터 미사용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3886200"/>
            <a:ext cx="2636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판매·재고·구매 실적은 학습·검증·변수 어디에도 넣지 않음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이유: 가용량 부족 + 임시값 비중 과다 → 분석 왜곡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3단계 손익 비교도 회사 실손익이 아닌 공개 시장가 기준 톤당 비교로 설계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규모: 분석용 표의 지표 1,400종 이상, 비정형 신호 2,542행·18지표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1단계(핵심 변인·경보·과거 유사 시기 참조)는 8월 31일 정식 가동해, 매일 주의할 변수를 통지하고 비슷했던 과거 시기의 실제 흐름을 참조로 제공함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프로젝트 정의서 §1-1 · 작업정의서 ③ 분석·보고 · 개요(비전문가용) §5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목표와 실무 기대효과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4592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"지금 무엇을 봐야 하는가"를 알려 줌. 가격과 함께 움직인 지표를 순위로 뽑고, 평소 범위를 벗어난 지표에 경보를 붙임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① 주의 변수 통지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실무자가 매일 볼 수 없는 수백 개 지표를 시스템이 대신 감시하고 벗어난 것만 올림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② 과거 유사 시기 참조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지표가 지금과 같은 수준이던 과거 날짜들 이후 1주/1개월/3개월 실제 가격 변화를 분포로 제시(예측이 아닌 관측 요약)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③ 검증 가능한 기록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그날 무엇을 검사했고 무엇이 없었는지 매일 서명해 남김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약속하지 않는 것 </a:t>
            </a:r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절감액·수익률 등 금액 성과는 수치로 약속하지 않음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3가지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46520" y="1627632"/>
            <a:ext cx="1625498" cy="141732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1112" y="1737360"/>
            <a:ext cx="13237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변인 순위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2194560"/>
            <a:ext cx="129631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움직임과 함께 움직인 상위 변인 5개 + 방향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54898" y="1627632"/>
            <a:ext cx="1625498" cy="141732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9490" y="1737360"/>
            <a:ext cx="13237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목록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19490" y="2194560"/>
            <a:ext cx="129631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초과 지표 + 근거. 없으면 '이상 없음(검사 완료)'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063277" y="1627632"/>
            <a:ext cx="1625498" cy="141732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7869" y="1737360"/>
            <a:ext cx="13237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유사 시기 실측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27869" y="2194560"/>
            <a:ext cx="129631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1주/1개월/3개월 뒤 실제 분포 + 유사 사례 배지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(사실 기준)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3584448"/>
            <a:ext cx="5242255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36576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8/31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42428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가동일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(이후 무개입 연속 성공)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6576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E7D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20/20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2428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실행 작업 성공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(9/9 기준)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012680" y="36576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1,400+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0012680" y="42428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분석용 표의 지표 수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시점 값 충돌 0건)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5074920"/>
            <a:ext cx="4876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일(진행 중):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기준 5개 중 2개는 평가 코드 미완 · 방법론 확장과 경보 기준 재조정 진행 중 → 인수 후 첫 개선 항목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2단계(확률 가격 범위)는 실시간 검증이 2027년 이후에야 가능해 준비 패키지로 동결하고, 3단계(구매 시점 시뮬레이션)는 설계 단계에 둠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2단계 추가 데이터 요구 정리(2026-09-09) §4 표 C·§7 · 결정 대기열(2단계 범위 재정의 — 동결 승인) · 프로젝트 정의서 §1-1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— 확률 가격 범위: 무엇이고 왜 동결하나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27632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1일/1주/1개월/3개월 뒤 가격의 P10·P50·P90 범위와 상승 확률. 방법 조합은 확정, 과거 구간 재현 검증은 지금도 가능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동결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실시간 실적이 쌓이기 전까지는 "과거 표본에서 재현한 범위"까지만 말할 수 있고, 미검증 확률 산출물을 의사결정에 넣는 것은 규율 위반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동결의 의미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설계·데이터 목록·백테스트 절차·준비도 판정을 정본으로 보관. 1단계 정식판을 현 시점 최종 산출물로 확정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3749040"/>
            <a:ext cx="5760720" cy="1188720"/>
          </a:xfrm>
          <a:prstGeom prst="rect">
            <a:avLst/>
          </a:prstGeom>
          <a:solidFill>
            <a:srgbClr val="FBF1E3"/>
          </a:solidFill>
          <a:ln w="9525">
            <a:solidFill>
              <a:srgbClr val="B9721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38130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조건 4가지 (모두 충족 시 별도 승인으로 재개)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4114800"/>
            <a:ext cx="5440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승인된 추가 시장 데이터 3종(대두박·대두 정산가, 옵션 내재변동성) 수령·분석용 표 편입  ② 시세 이력의 일별 갱신 밀도 해소  ③ 운영 실행 환경 확정  ④ 인수 측이 1단계 산출물 해석 훈련을 마친 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2801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검증에 필요한 기간 — 가동일을 9/10으로 가정한 산술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0" y="2331720"/>
            <a:ext cx="4465015" cy="0"/>
          </a:xfrm>
          <a:prstGeom prst="line">
            <a:avLst/>
          </a:prstGeom>
          <a:noFill/>
          <a:ln w="25400">
            <a:solidFill>
              <a:srgbClr val="1228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48856" y="2231136"/>
            <a:ext cx="201168" cy="20116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76479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02082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가동(가정)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920460" y="2231136"/>
            <a:ext cx="201168" cy="20116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80964" y="176479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80964" y="202082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1·5일 지평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81364" y="2231136"/>
            <a:ext cx="201168" cy="20116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1868" y="176479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12/03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41868" y="202082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60일 첫 해소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313871" y="2231136"/>
            <a:ext cx="201168" cy="201168"/>
          </a:xfrm>
          <a:prstGeom prst="ellipse">
            <a:avLst/>
          </a:prstGeom>
          <a:solidFill>
            <a:srgbClr val="B972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362895" y="176479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2027-09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362895" y="202082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비중복 4건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75120" y="2651760"/>
            <a:ext cx="1184834" cy="105156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2715768"/>
            <a:ext cx="100195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표본 재현 검증만 가능 · 실시간 실적 0건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51394" y="2651760"/>
            <a:ext cx="1184834" cy="105156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2834" y="2715768"/>
            <a:ext cx="100195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 건 누적 → 짧은 지평부터 실시간 성적 보고 시작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227668" y="2651760"/>
            <a:ext cx="1184834" cy="105156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19108" y="2715768"/>
            <a:ext cx="100195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범위의 실측 대조 1건 — '사례'이지 성적 아님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0503941" y="2651760"/>
            <a:ext cx="1184834" cy="1051560"/>
          </a:xfrm>
          <a:prstGeom prst="rect">
            <a:avLst/>
          </a:prstGeom>
          <a:solidFill>
            <a:srgbClr val="FBF1E3"/>
          </a:solidFill>
          <a:ln w="12700">
            <a:solidFill>
              <a:srgbClr val="FBF1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95381" y="2715768"/>
            <a:ext cx="100195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1주기 포함 → '실시간 커버리지를 관측한 범위'로 격상 가능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0" y="3794760"/>
            <a:ext cx="5013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어느 쪽이든 검증 창은 2027년 이후. 그 전까지 범위를 '확률'이라 부르지 않는 것이 규율임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5349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— 구매 시점·물량 3-시뮬레이션: 설계 단계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565099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실무자의 "내 구매 시점·물량이 적절했나" 질문에 ①지금 사는 경우 ②미리 정한 다른 시점 ③나눠 사는 경우의 손익 차이를 비교해 답함. 설계 근거 문헌까지 확정, 구현 미착수. 2단계 확률 범위 가동 후 착수하며, 회사 실손익이 아닌 공개 시장가 기준 톤당 비교로 산출함.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신뢰는 "맞출 자신"이 아니라 매일 무엇을 검사했는지를 남기는 네 가지 원칙으로 확보하며, 이 원칙은 인수 후에도 그대로 유지되어야 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프로젝트 정의서 §5(처리 원칙) · 작업정의서 ②·⑥ · 용어 포인터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— 검증·신뢰 원칙 4가지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5455768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정합 — 발표 전 정보는 쓰지 않음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267712"/>
            <a:ext cx="5126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숫자에 "이 값을 언제부터 실제로 알 수 있었는가"를 붙임(예: 8월 수급 보고서는 8/12 발표 → 8/1 분석에 사용 금지)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모델이 과거를 볼 때 미래를 곁눈질해 실제로는 낼 수 없는 성적이 나옴. 최근 실행 위반 0건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수정된 값은 덮어쓰지 않고 회차별로 따로 보관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1645920"/>
            <a:ext cx="5455768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70168" y="178308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701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4800" y="1755648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게이트 — 확실하지 않으면 멈춤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397600" y="2267712"/>
            <a:ext cx="5126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점수 5항목(정확도·완전성·일관성·신선도·분포) 가중 합산, 0.70 이상 통과 + 구조·이상치 검사 + 자동 테스트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"0(교역 없음)"과 "빈칸(미보고)"을 구분 — 섞으면 물량이 부풀려짐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시점에 값이 둘이면 임의로 고르지 않고 실패시킴(값 충돌 48,789건 → 0건)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959352"/>
            <a:ext cx="5455768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96512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" y="4069080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없음(검사 완료) — 침묵과 정상을 구분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581144"/>
            <a:ext cx="5126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없는 날 아무 말도 없으면 "평온한 것"과 "시스템이 멈춘 것"을 구별할 수 없음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이상이 없는 날에도 "오늘 무엇을 검사했고 결과가 어땠는지"를 한 줄 서명으로 기록(날짜·판정·게이트·경보 수)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사슬이 어디서 멈췄든 이 기록은 남음 → 매일 한 줄씩 쌓이는지가 첫 점검 항목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33008" y="3959352"/>
            <a:ext cx="5455768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BD2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70168" y="4096512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016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4800" y="4069080"/>
            <a:ext cx="469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AI 교차검증 — 산출물을 한 번 더 점검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397600" y="4581144"/>
            <a:ext cx="5126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코드·시장 보고서·용어 파일이 바뀌면 외부 대형 언어모델로 재점검하고 판정을 원장에 누적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185건 중 판정 126건, 59건은 미판정(= 검증되지 않았다는 뜻) → 재검증 계획 대상</a:t>
            </a:r>
            <a:endParaRPr lang="en-US" sz="11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전에는 확률·전망 표현을 화면에 쓰지 않도록 금지어 자동 검사 병행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리스크는 정확도 한계·데이터 소스 장애·고도화 자원(인력·비용·일정)·지식 이전이며, 각각 설계와 문서 체계로 완화 장치를 갖춤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프로젝트 정의서 §2.3·§3 · 2단계 추가 데이터 요구 정리 §5(유료 항목 비용) · 작업정의서 ⑤ 운영·이관 (금액은 계약·청구 기준으로 재확인 필요)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566160"/>
                <a:gridCol w="3566160"/>
                <a:gridCol w="2450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완화 장치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잔여 위험·요청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정확도 한계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1단계 산출물은 예측이 아닌 '참조'(진단·과거 관측 요약). 확률 산출물(2단계)은 검증 전이며, 오독 시 조달 판단 오류로 이어질 수 있음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 한계 문구 상시 표기 + 금지어 자동 검사 · 검증 전 확률 산출물은 의사결정 투입 금지(동결) · 담당자 승인 절차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인수 측 해석 훈련 필요(2~3회) · 경보 기준 2개 평가 코드 미완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소스 장애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기관 API 장애·응답 형식 변경·시간대별 접속 불안정(지난주 실패 6건 중 브리프 영향 1건 — 외부 기관 장애)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비치명 설계(하나 실패해도 나머지 진행) · 대체 소스 폴백 · 수동 업로드 이력으로 커버 · 실패는 기록으로 표면화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접속 허용 목록 유지 · 수동 업로드 계열의 주기적 갱신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고도화 자원 — 인력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운영은 1인으로 가능하나, 2·3단계 고도화와 방법론 확장에는 데이터 분석 관점의 지원이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담당 1인(일별·월별 점검) + 데이터 분석 관점 지원(주 단위 자문) 구조 · 인수인계 문서 6종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고도화 시점에 분석 인력 배정 결정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고도화 자원 — 비용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구독 5종(시세 이력 구독·선물 정산가 종량·실시간 검색 크레딧·외부 AI 2종 종량) — 월 단위 수십~수백 달러 수준. 정확 금액은 계약·청구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알려진 금액 기준 연 약 2,100~3,900달러 범위(견적 항목 제외) · 추가 유료 소스는 결정 대기열로 관리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구독 5종의 법인 귀속·갱신 승인(끊기면 수집 정지)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고도화 자원 — 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 실시간 검증은 60거래일 지평 첫 해소가 12월 초, 계절 1주기 포함 표본은 2027-09에야 확보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준비 패키지 동결 + 재개 조건 4가지 명시 · 짧은 지평(1·5일)부터 실시간 성적 보고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 재개는 2027 1분기 이후 검증 가능 — 별도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인수 시 지식 이전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정합·게이트·서명 등 운영 규율을 모르면 '실패=고장'으로 오인하거나 fail-open으로 되돌릴 위험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체계(정의서·개요·작업정의서·워크플로우 지도·용어·기록 찾는 법) · 결정·실패 원장 월별 보관 · 5분 점검 체크리스트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인수 직후 체크리스트 수행 확인 · 결정 대기열 기한 항목 정리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유지보수는 일별 5분 점검·실패 시 조치 순서·월 1회 점검으로 구성되어 운영 담당 1인이 수행할 수 있으며, 문서 6종이 인수 지식을 뒷받침함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워크플로우 지도 §3~§4(인수 직후 점검 체크리스트) · 작업정의서 ⑤·⑥ · 인수인계 패키지 README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3545738" cy="278892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점검 (5분)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1947672"/>
            <a:ext cx="32165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브리프가 발행됐는가 — 최신 브리프 1장 열어 "미수집" 빈 블록 수 확인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게이트 상태 — 신뢰 스트립이 초록인가(통과/경고/불합격)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 기록 마지막 날짜가 어제(영업일)인가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실패 알림 — 실행 이력 최근 3회가 정상인가, 멈춘 지점이 수집인가 게이트인가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뉴스 신호 파일의 마지막 날짜가 어제인가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22978" y="1325880"/>
            <a:ext cx="3545738" cy="2788920"/>
          </a:xfrm>
          <a:prstGeom prst="rect">
            <a:avLst/>
          </a:prstGeom>
          <a:solidFill>
            <a:srgbClr val="FBF1E3"/>
          </a:solidFill>
          <a:ln w="9525">
            <a:solidFill>
              <a:srgbClr val="FBF1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60138" y="1463040"/>
            <a:ext cx="384048" cy="384048"/>
          </a:xfrm>
          <a:prstGeom prst="ellipse">
            <a:avLst/>
          </a:prstGeom>
          <a:solidFill>
            <a:srgbClr val="B9721C"/>
          </a:solidFill>
          <a:ln w="12700">
            <a:solidFill>
              <a:srgbClr val="B97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6013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44770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조치 순서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7570" y="1947672"/>
            <a:ext cx="32165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멈춘 지점 확인 — 수집 단계면 외부 기관 문제일 가능성이 큼(대기 후 수동 재실행)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게이트 단계면 "데이터가 나쁜 것"인지 "파일이 안 온 것"인지 구분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"값 충돌"이면 지표 이름에 지역·국가 구분이 빠졌는지 의심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후 수동 재실행 → 서명 기록에 한 줄 남는지 확인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원인·조치를 결정·실패 원장에 한 줄 기록(재발 방지)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43037" y="1325880"/>
            <a:ext cx="3545738" cy="2788920"/>
          </a:xfrm>
          <a:prstGeom prst="rect">
            <a:avLst/>
          </a:prstGeom>
          <a:solidFill>
            <a:srgbClr val="E8ECF3"/>
          </a:solidFill>
          <a:ln w="9525">
            <a:solidFill>
              <a:srgbClr val="E8EC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463040"/>
            <a:ext cx="384048" cy="384048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764829" y="1435608"/>
            <a:ext cx="27867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점검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7629" y="1947672"/>
            <a:ext cx="321655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업로드 데이터 갱신 — 관세청 실적·USDA 수급·시세 이력 엑셀·거래소 거래량(빈 서식 파일 여부 포함)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구독 5종 갱신·잔여 크레딧 확인(끊기면 수집 정지)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키 만료·포털 재승인 여부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대기열 기한 항목 정리 · 교차검증 미판정 건 재검증 계획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진행 현황 초안(자동 생성) 검토·확정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포인터 — 인수 지식의 근거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645152"/>
          <a:ext cx="1118585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583680"/>
                <a:gridCol w="24048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누가·언제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정의서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목표·단계별 목표(1·2·3단계), 필요성, 분석 유형, 사용 데이터, 처리 방법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모두 · 가장 먼저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개요(비전문가용)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 요약, 매일 아침 무슨 일이 일어나는지, 브리프 화면 읽는 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모두 · 처음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작업정의서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지금까지 한 일 전체를 6가지 작업 유형으로 정리(목적·입력·출력·주기·상태·인수 후 첫 행동)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인수 주체 · 실무 인계 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워크플로우 지도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실행 19종이 무엇이고 언제 도는지, 결과를 어디서 보는지, 인수 직후 5분 체크리스트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담당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포인터 · 기록 찾는 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용어 20개 한 줄 설명 + 전체 용어집 위치 · 결정·실패 기록을 되짚는 표준 경로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막힐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 사항은 운영 이관·유지보수 체계, 유료 구독 5종의 법인 귀속, 2단계 동결·재개 조건, 인수 측 해석 훈련의 네 가지임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본 보고서 전체 · 결정 대기열(2026-09) · 작업정의서 ⑤ 운영·이관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 사항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27632"/>
            <a:ext cx="11185855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1847088"/>
            <a:ext cx="402336" cy="402336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70078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이관·유지보수 체계 승인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700784"/>
            <a:ext cx="5577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담당 1인 지정 · 일별 5분 점검 + 월 1회 점검 루틴 채택 · 실패 알림을 받을 사람·경로 확정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545775" y="1883664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FBF1E3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45775" y="188366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578608"/>
            <a:ext cx="1118585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798064"/>
            <a:ext cx="402336" cy="402336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5176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구독 5종의 법인 귀속·갱신 승인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651760"/>
            <a:ext cx="5577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이력 구독 · 선물 정산가 종량 · 실시간 검색 크레딧 · 외부 AI 2종 종량 — 결제·계정 주체를 회사 명의로 정리(끊기면 수집 정지)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45775" y="283464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FBF1E3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45775" y="28346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중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529584"/>
            <a:ext cx="11185855" cy="841248"/>
          </a:xfrm>
          <a:prstGeom prst="rect">
            <a:avLst/>
          </a:prstGeom>
          <a:solidFill>
            <a:srgbClr val="F3F4F6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9040"/>
            <a:ext cx="402336" cy="402336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60273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준비 패키지 동결·재개 조건 확인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602736"/>
            <a:ext cx="5577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9/10 'Preview' 마일스톤을 '준비 패키지 동결'로 재정의한 사실과 재개 조건 4가지 인지 · 재개는 별도 승인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545775" y="3785616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FBF1E3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545775" y="378561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4480560"/>
            <a:ext cx="1118585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2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" y="4700016"/>
            <a:ext cx="402336" cy="402336"/>
          </a:xfrm>
          <a:prstGeom prst="ellipse">
            <a:avLst/>
          </a:prstGeom>
          <a:solidFill>
            <a:srgbClr val="12284C"/>
          </a:solidFill>
          <a:ln w="12700">
            <a:solidFill>
              <a:srgbClr val="1228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" y="4700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5537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 측 해석 훈련 일정 승인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553712"/>
            <a:ext cx="5577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산출물(핵심 변인·경보·과거 유사 시기)을 읽는 훈련 2~3회 · 인수 직후 5분 체크리스트 실습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545775" y="4736592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FBF1E3"/>
          </a:solidFill>
          <a:ln w="6350">
            <a:solidFill>
              <a:srgbClr val="B972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5775" y="47365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9~10월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72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5779008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후 2주: 운영 담당 인계·체크리스트 실습 → 9~10월: 해석 훈련·수동 업로드 계열 갱신·경보 기준 평가 코드 보완 → 2027년 이후: 2단계 재개 조건 충족 여부 점검 후 별도 승인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사내 분석과제 양식 — 과제 정의·활용 가치사슬·데이터·분석 내용 요약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프로젝트 정의서 §1~§5 · README §QR · 라이브러리·프로그램 인벤토리 §2.2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5829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Nexus — 수입 대두유 조달 판단 지원 체계(핵심 변인·경보·과거 유사 시기 참조 → 확률 가격 범위 → 구매 시점·물량 시뮬레이션)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추진목적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수입 대두유의 구매 시점·물량 판단 근거를 매일 자동 산출·기록해, 직관·사후 대응 중심의 조달을 데이터 기반 선제 판단으로 전환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주활용 VC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구매/조달 (원료 조달 판단 지원 · 스팟 계약 협상 시 참고) — 판단은 담당자 승인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유형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①현황(스냅샷) ②진단(변인 중요도·경보) ③참조(과거 유사 시기 실측) — 가동 / ④확률 예측(가격 범위) — 준비·동결 / ⑤처방·시뮬레이션 — 설계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및 필요성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AS-IS: 뒤늦은 뉴스·무료 지수 추종, 실무자 직관 의존, 리드타임 약 3개월의 위험을 사후 발견, 수작업 정보 취합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TO-BE: 매 영업일 자동 수집·검사·분석 → 일일 브리프 1장, 주의 변수 통지, 과거 유사 시기 참조, 매일 서명 기록(구조 변화를 자료에서 먼저 감지)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목표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1단계 핵심 변인 순위·경보·과거 유사 시기 실측 참조(정식 가동 2026-08-31) / 2단계 1·5·20·60거래일 확률 가격 범위 P10·P50·P90(준비 패키지 동결) / 3단계 현시점·대안 시점·분할 구매 3-시뮬레이션 근사 손익(설계)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3200400"/>
            <a:ext cx="1600200" cy="2011680"/>
          </a:xfrm>
          <a:prstGeom prst="rect">
            <a:avLst/>
          </a:prstGeom>
          <a:solidFill>
            <a:srgbClr val="E8ECF3"/>
          </a:solidFill>
          <a:ln w="6350">
            <a:solidFill>
              <a:srgbClr val="CBD2DC"/>
            </a:solidFill>
          </a:ln>
        </p:spPr>
        <p:txBody>
          <a:bodyPr wrap="square" lIns="38100" tIns="63500" rIns="63500" bIns="3810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데이터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03120" y="3200400"/>
          <a:ext cx="9585655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2514600"/>
                <a:gridCol w="1143000"/>
                <a:gridCol w="1005840"/>
                <a:gridCol w="1490472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공개/비공개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정형/비정형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대두유 선물 정산가·교차검증 종가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Databento · yfinance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종량·공개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환율·금리·물가·변동성 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FRED · 한국은행 · 통계청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일·월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운임지수·해협 통과 선박·탱커 운임 대용값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Trading Economics · 공개 AIS · 검색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유료 구독·공개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수급·작황·수출(WASDE·PSD·NASS·ESR)·미국 무역통계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USDA(수동 업로드+공개 API)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월·주·연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관세청 품목·국가별 수출입 실적(대두유·대체재 14품목)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data.go.kr(관세청)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2010~26.08 월별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산지 기상·엘니뇨·산불 / 지정학 지수·국제 사건·정책 뉴스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Open-Meteo·NOAA·NASA / GDELT·USGS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공개·유료 크레딧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정형+비정형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일·월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시장 보고서 PDF·전문 매체·일별 뉴스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USDA GAIN · FAO AMIS · 매체 RSS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비정형→월별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2010~ 수시·일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0352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5829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분석 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변인 순위(공선성 제어 회귀 + 트리 모델 기여도 + 시차 인과) · 기준 초과 경보 · 과거 유사 시기 실측 분포(1주/1개월/3개월) · 참고 도착가 범위 · [준비] 확률 가격 범위(평균 경로·분위수·변동성·구간 보정) · [설계] 3-시뮬레이션 톤당 기회손실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전처리/분석 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정합(발표일 기준 가용 시각 부여·개정 회차 보관) · 품질 게이트(5항목 가중 점수 0.70 이상·구조/이상치·자동 테스트) · 0과 결측 구분 · '날짜×지표' 격자표(값 충돌 시 중단) · 표준화 지수·수익률 산출 · 비정형 문서 판독→신호 태그→월별 계열화 · 서명 기록 · 외부 AI 교차검증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8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자주 나오는 용어 8가지 — 브리프를 읽을 때 이 정도면 충분함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190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용어 포인터(꼭 알아야 할 20개) · 위키 용어집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1140135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848295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Nexus 인수인계 보고 · 2026-09 · 사내 한정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394960"/>
                <a:gridCol w="3410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쉬운 풀이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읽을 때 주의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8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대두유 (조유 / 정제유)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콩에서 짜낸 기름. 짜낸 그대로가 조유, 걸러서 정제한 것이 정제유 — 우리가 사는 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관세청 통계는 조유·정제유 코드가 다름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 종가 (시카고 거래소)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시카고 거래소 대두유 선물의 마감 가격. 이 프로젝트의 기준 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도착 가격이 아님 — 참고 도착가 범위로 별도 환산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재고사용비율 (STU)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재고 ÷ 한 해 쓰는 양. 낮을수록 "빠듯하다" — 가격 압력의 대표 지표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수급 보고서 발표일 이후에만 반영됨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정합 (as-of)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"그날 실제로 알 수 있었던 정보만 쓴다"는 1순위 규칙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값이 없는 지표는 분석에 넣지 않음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게이트 / fail-closed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5항목 점수로 통과·경고·불합격을 판정하는 관문. "확실하지 않으면 멈춘다"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멈춤은 고장이 아니라 설계 — 원인부터 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이상 없음(검사 완료)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경보가 없는 날에도 "검사했고 이상 없음"을 남기는 일별 서명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침묵(멈춤)과 정상을 구분하는 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유사 시기 참조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지표가 지금과 같던 과거 날짜들의 이후 실제 변화를 모아 보여 주는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예측이 아니라 관측 요약. 표본 8회 미만이면 비움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/ P50 / P90 (확률 범위)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10% / 가운데 / 상위 10% 지점 — 하나의 값이 아니라 범위로 말하는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 가동 전까지 화면의 범위는 '참고 범위'이지 확률이 아님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57607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헷갈리는 세 가지: ① "참고 범위"는 확률이 아님  ② 경보는 '사건'이 아니라 '상태'(들어가고 나올 때 알림)  ③ 0(교역 없음)과 빈칸(미보고)은 다름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인수인계 보고 2026-09</dc:title>
  <dc:subject>PptxGenJS Presentation</dc:subject>
  <dc:creator>Nexus</dc:creator>
  <cp:lastModifiedBy>Nexus</cp:lastModifiedBy>
  <cp:revision>1</cp:revision>
  <dcterms:created xsi:type="dcterms:W3CDTF">2026-09-13T11:33:30Z</dcterms:created>
  <dcterms:modified xsi:type="dcterms:W3CDTF">2026-09-13T11:33:30Z</dcterms:modified>
</cp:coreProperties>
</file>