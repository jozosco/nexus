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D6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4B4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arallelogram 3"/>
          <p:cNvSpPr/>
          <p:nvPr/>
        </p:nvSpPr>
        <p:spPr>
          <a:xfrm>
            <a:off x="9692640" y="0"/>
            <a:ext cx="1371600" cy="6858000"/>
          </a:xfrm>
          <a:prstGeom prst="parallelogram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81360" y="0"/>
            <a:ext cx="13258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56032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8778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청정원고딕 R"/>
                <a:ea typeface="청정원고딕 R"/>
                <a:cs typeface="청정원고딕 R"/>
              </a:rPr>
              <a:t>Soybean Oil Procurement Decision-Support System — Handover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877824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청정원명조 B"/>
                <a:ea typeface="청정원명조 B"/>
                <a:cs typeface="청정원명조 B"/>
              </a:rPr>
              <a:t>대두유 조달 판단 지원 체계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청정원명조 B"/>
                <a:ea typeface="청정원명조 B"/>
                <a:cs typeface="청정원명조 B"/>
              </a:rPr>
              <a:t>인수인계 보고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8778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청정원고딕 R"/>
                <a:ea typeface="청정원고딕 R"/>
                <a:cs typeface="청정원고딕 R"/>
              </a:rPr>
              <a:t>운영 이관 및 유지보수 체계 승인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8778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0E3E7"/>
                </a:solidFill>
                <a:latin typeface="청정원고딕 R"/>
                <a:ea typeface="청정원고딕 R"/>
                <a:cs typeface="청정원고딕 R"/>
              </a:rPr>
              <a:t>2026년 9월  ·  부서장 승인용  ·  사내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0"/>
            <a:ext cx="8778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E0E3E7"/>
                </a:solidFill>
                <a:latin typeface="청정원고딕 R"/>
                <a:ea typeface="청정원고딕 R"/>
                <a:cs typeface="청정원고딕 R"/>
              </a:rPr>
              <a:t>작성 기준: 프로젝트 정의서·인수인계 문서 묶음(2026-09-11) · 2단계 범위 재정의 승인(2026-09) · 2026-09-25~27 개선 사항 반영(지정학 동향 편입·브리프 재설계·오류 종합 보고·시장구조 갱신)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822960"/>
          </a:xfrm>
          <a:prstGeom prst="rect">
            <a:avLst/>
          </a:prstGeom>
          <a:solidFill>
            <a:srgbClr val="5D6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80" y="237744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40080"/>
            <a:ext cx="6858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18488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핵심 메시지와 승인 요청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02536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0" y="2112264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130552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목적·타당성 — 왜 필요한가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14600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2624328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642616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개요 — 무엇을 하는 시스템인가 · 브리프 읽는 법 · 데이터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3026664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0" y="3136392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54680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단계별 추진·전략 — 1단계 가동 · 2·3단계 · 신뢰 원칙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538728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0" y="3648456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666744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예상 리스크와 완화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050792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2000" y="4160520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178808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유지보수·지원 체계와 승인 요청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562856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4672584"/>
            <a:ext cx="6400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690872"/>
            <a:ext cx="6309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최근 개선(2026-09-25~27)과 부록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5074920"/>
            <a:ext cx="6949440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01 핵심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1단계(핵심 변인·경보·과거 유사 시기 참조)는 정식 가동 중이며, 운영 이관과 유지보수 체계의 승인을 요청함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643554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핵심 메시지 3가지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56231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856231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28800"/>
            <a:ext cx="608807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무엇을 만들었나 — 매일 아침 자동으로 만들어지는 판단 근거 1장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03120"/>
            <a:ext cx="6088075" cy="664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매 영업일 새벽 외부 공개 데이터 9계열 자동 수집 → 품질 검사 3단계 → 분석 → 일일 브리프 발행. 2026-08-31 정식 가동 이후 사람 개입 없이 연속 성공(9/15~9/24 정기 실행 8회 연속 20개 작업 전부 성공, 9/25 개선 후 첫 완주 확인)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95015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2795015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767583"/>
            <a:ext cx="608807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무엇을 약속하지 않나 — 구매 실행·확률 주장·금액 성과는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041903"/>
            <a:ext cx="6088075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판단 근거와 기록까지 제공하고, 구매/보류 결정은 담당자가 승인함(자동 실행 구간 없음). 검증 전에는 "확률 ○%"·절감액 같은 표현을 쓰지 않음 — 과거 관측의 요약과 참고 범위까지만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81400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2920" y="3581400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53968"/>
            <a:ext cx="608807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다음 단계 — 2단계는 검증 가능 시점까지 동결, 3단계는 설계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3828288"/>
            <a:ext cx="6088075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2단계(확률 가격 범위) 실시간 검증이 2027년 이후에야 가능해 '준비 패키지'로 동결(재개 조건 명시). 유지 체계는 운영 담당 1인 + 일별 5분 점검 + 월 1회 점검으로 현 수준 유지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251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32243" y="1426464"/>
            <a:ext cx="42537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승인 요청 사항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515" y="182880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5395" y="1828800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① 운영 이관·유지보수 체계 승인 — 운영 담당 지정, 일별·월별 점검 루틴 채택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2515" y="2203704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5395" y="2203704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② 유료 구독 5종의 법인 귀속·갱신 — 구독이 끊기면 수집이 멈추므로 결제·계정 주체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2515" y="2578608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5395" y="2578608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③ 2단계 동결·재개 조건 확인 — 검증 산술과 규율에 근거한 범위 재정의 인지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2515" y="2953512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5395" y="2953512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④ 인수 측 해석 훈련 일정 — 1단계 산출물(변인·유사 시기)을 읽는 훈련 2~3회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22515" y="3493008"/>
            <a:ext cx="4363516" cy="699515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50531" y="3575304"/>
            <a:ext cx="4107484" cy="5532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승인 시 효과: 매일 아침 판단 근거가 끊기지 않고 제공되며, 향후 고도화(2·3단계)는 검증 조건이 충족될 때 별도 승인으로 재개함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프로젝트 정의서(2026-09-11) · 개요(비전문가용) · 2단계 추가 데이터 요구 정리 §7 · 워크플로우 오류 종합 보고(2026-09-25)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02 목적·타당성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대두유 조달은 도착 소요 기간 약 3개월·높은 수입 의존·정보 비대칭이 겹쳐, 사후 대응에서 선제 판단 지원으로의 전환이 필요함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643554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왜 필요한가 — 현재 구조의 세 가지 문제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6545274" cy="8778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36318"/>
                <a:gridCol w="2454478"/>
                <a:gridCol w="2454478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구조 문제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AS-IS (현재)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TO-BE (지향)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변동성 대응이 늦음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뒤늦은 뉴스와 무료 지수를 따라감 — 이미 움직인 뒤에 앎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구조가 바뀌는 순간을 자료에서 먼저 감지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판단 근거가 주관적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실무자의 경험·직관에 의존, 재현이 어려움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정량 모델과 객관 데이터 신호를 매일 같은 방식으로 제시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도착 소요 기간 3개월의 위험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발주→선적→도착 약 3개월, 문제를 사후 발견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3개월 앞을 내다보는 준비·경보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3425571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2648" y="3352419"/>
            <a:ext cx="643554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AS-IS → TO-BE 한눈에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54755"/>
            <a:ext cx="3217773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3754755"/>
            <a:ext cx="3217773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827907"/>
            <a:ext cx="303489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AS-IS  수작업 정보 취합·사후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02227"/>
            <a:ext cx="3034893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실무자 1인이 작황·환율·운임·정책·해협 상황을 개별 확인 / 기준 초과 여부를 사람이 기억에 의존해 판단 / "왜 그때 그렇게 봤나" 기록이 남지 않음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0421" y="3754755"/>
            <a:ext cx="3217773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830421" y="3754755"/>
            <a:ext cx="3217773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921861" y="3827907"/>
            <a:ext cx="303489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TO-BE  매일 아침 자동 브리프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1861" y="4102227"/>
            <a:ext cx="3034893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새벽 자동 수집·검사·분석 후 브리프 1장 발행 / 주의 변수 통지(경보) + 과거 유사 시기 실측 참조 / 매일 "무엇을 검사했는지" 검사 기록 누적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251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32243" y="1426464"/>
            <a:ext cx="42537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규모 — 작은 차이가 크게 남는 이유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22515" y="1828800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322515" y="182880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50531" y="1865376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531" y="2249424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한국 식물성유지 공급의 수입 의존율(2022/23)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2853" y="1828800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572853" y="182880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00869" y="1865376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35만~40만 톤/년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00869" y="2249424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조대두유 수입 규모 — 대두유는 팜유 다음 두 번째 유종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22515" y="2852928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22515" y="2852928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50531" y="2889504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약 200 $/톤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0531" y="3273552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원산지별 도착 단가 중앙값 차이(아르헨티나 1,183 vs 미국 1,383)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72853" y="2852928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572853" y="2852928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00869" y="2889504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2027-12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0869" y="3273552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아르헨티나 대두유 수출세 22.5→14%(2028-12 종착) 경로 확정 — 조달 판단 변수(2026-06 관보)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22515" y="3968496"/>
            <a:ext cx="4363516" cy="53949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50531" y="4050791"/>
            <a:ext cx="4107484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→ 언제·어디서 사느냐는 판단의 문제이며, 그 판단을 뒷받침할 근거를 매일 갖추는 것이 이 과제의 이유임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README §1 · 프로젝트 정의서 §2(한국 식물성유지 수입 의존 82%, 2022/23 · 관세청 실적 기반 원산지별 도착 단가)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03 개요 —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매 영업일 새벽 외부 데이터를 자동 수집·검사·분석해 일일 브리프를 발행하며, 구매·보류 결정은 담당자가 승인함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1107338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무엇을 하는 시스템인가 — 매일 아침 5단계 자동 흐름 (시장 개장 전 완료)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7784" y="1828800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① 수집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57984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6072" y="2203704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외부 공개 데이터 9계열(시세·환율 / 운임 / 작황·수급 / 기후 / 선물 종가 / 지정학 / 생산·수출 / 수입통계 / 지리·재난) + 뉴스·전문 매체 요약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1487" y="1828800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16351" y="1828800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② 품질 검사 3종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7" y="2157984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34639" y="2203704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⑴ 품질 점수 5항목 가중 합산(0.70 이상 통과) ⑵ 구조·이상치 검사 ⑶ 자동 테스트 — 하나라도 불합격이면 여기서 멈춤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5" y="1828800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074919" y="1828800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③ 준비도 판정·표 작성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5" y="2157984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93207" y="2203704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"꼭 필요한 데이터가 오늘 다 있는가" 판정 후 '날짜 × 지표' 격자표 작성(같은 시점 값이 둘이면 고르지 않고 멈춤)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8623" y="1828800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33488" y="1828800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④ 분석·브리프 발행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3" y="2157984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51775" y="2203704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핵심 변인 순위 → 경보 판정 → 과거 유사 시기 조회 → 일일 브리프 1장 발행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37192" y="1828800"/>
            <a:ext cx="214883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92056" y="1828800"/>
            <a:ext cx="203911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⑤ 일일 검사 기록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37192" y="2157984"/>
            <a:ext cx="2148839" cy="1014984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10344" y="2203704"/>
            <a:ext cx="2002535" cy="9235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오늘의 검사 상태·경보 수·검증 상태를 한 줄로 기록(사슬이 어디서 멈췄든 이 기록은 남음)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19272"/>
            <a:ext cx="11183111" cy="37947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" y="3401568"/>
            <a:ext cx="10927080" cy="2331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주황 배경 = 멈추는 관문. 데이터가 빠졌는데 조용히 넘어가면 그날 브리프가 "이상 없음"처럼 보이므로, 빠짐이 있으면 일부러 멈추도록 설계함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18204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12648" y="3845052"/>
            <a:ext cx="1107338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판단 지원 원칙 — 시스템은 제안하고 사람이 승인함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47388"/>
            <a:ext cx="3654551" cy="78333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02920" y="4247388"/>
            <a:ext cx="3654551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4320540"/>
            <a:ext cx="34716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AI 추천 · 사람 승인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94860"/>
            <a:ext cx="3471671" cy="3444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구매/보류 결정과 발주·계약·결제는 담당자의 승인 절차를 거침. 시스템은 참고 신호까지만 제공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67199" y="4247388"/>
            <a:ext cx="3654551" cy="78333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4267199" y="4247388"/>
            <a:ext cx="3654551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358639" y="4320540"/>
            <a:ext cx="34716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실패는 눈에 보이게 멈춤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8639" y="4594860"/>
            <a:ext cx="3471671" cy="3444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빠진 데이터를 조용히 넘기지 않음. 불합격·값 충돌·준비도 미달은 그 자리에서 중단하고 기록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31480" y="4247388"/>
            <a:ext cx="3654551" cy="78333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031480" y="4247388"/>
            <a:ext cx="3654551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122920" y="4320540"/>
            <a:ext cx="34716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검증 전 확률·전망 표현 금지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2920" y="4594860"/>
            <a:ext cx="3471671" cy="3444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과거 유사 시기는 "과거엔 이랬다"까지, 도착가 범위는 "참고 범위"로만 표기 — 금지어 자동 검사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개요(비전문가용) §2 · 워크플로우 지도 §1 (일별 사슬 20개 작업)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03 개요 — 브리프 읽는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일일 브리프는 한 장에 9개 블록으로 구성되며, 맨 위 신뢰 스트립이 초록일 때만 아래 내용을 그대로 읽음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42537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한 장 읽는 법 — 실무 적용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신뢰 스트립부터 — 검사 통과·경보 수·검증 상태가 초록이 아니면 아래 숫자를 그대로 믿지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03704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03704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한눈 요약 4개 숫자 — 전 거래일 종가, 참고 도착가 범위, 경보 수, 데이터 적시성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78608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경보는 '상태' — 기준을 넘어 들어가고 나올 때 알림. 없는 날은 "이상 없음(검사 완료)"으로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201168" cy="5349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53512"/>
            <a:ext cx="4162348" cy="5349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과거 유사 시기 — 확률이 아니라 "과거엔 이랬다". 표본 8회 미만이면 비워 둠. 사례 배지는 변수와 사례가 인과적으로 연결된 경우에만 붙음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88436"/>
            <a:ext cx="201168" cy="5349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488436"/>
            <a:ext cx="4162348" cy="5349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핵심 변인마다 '연결 근거' 한 줄 — 어떤 검증된 원인→결과 경로로 대두유에 닿는지, 최근 14일 기사 중 연결된 기사(한국어 헤드라인)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2336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주요 변동일의 변인 편차는 그 날짜 기준으로 계산 — 날짜마다 다르며, 관측이 없으면 '당시 값 없음'으로 표기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98264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98264"/>
            <a:ext cx="4162348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미수집은 그대로 표기 — 데이터가 없으면 꾸미지 않고 "미수집"이라고 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0756" y="1426464"/>
            <a:ext cx="6545275" cy="53949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268772" y="1508760"/>
            <a:ext cx="6289243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⓪ 신뢰 스트립 — 자동 점검 통과 ✔ · 데이터 품질 검사 통과 · 경보 n건 (초록이 아니면 아래를 그대로 믿지 않음)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0756" y="2112264"/>
            <a:ext cx="2108606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140756" y="2112264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32196" y="2185416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1  한눈 요약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2196" y="2459736"/>
            <a:ext cx="1925726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종가 · 참고 도착가 범위 · 경보 수 · 적시성 + [현황]→[요인]→[전망]→[유의] 4단 문장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9091" y="2112264"/>
            <a:ext cx="2108606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59091" y="2112264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0531" y="2185416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2  가격 추세와 핵심 변인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0531" y="2459736"/>
            <a:ext cx="1925726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최근 90거래일 그래프 + 급변일 번호(그 날짜 기준 변인 편차·당시 신호) + 상위 변인 5개(기사·연결 근거)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77425" y="2112264"/>
            <a:ext cx="2108606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577425" y="2112264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68865" y="2185416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3  금일 경보 (유의 사항)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8865" y="2459736"/>
            <a:ext cx="1925726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기준을 넘은 지표와 근거 — 없으면 '이상 없음(검사 완료)'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40756" y="3221736"/>
            <a:ext cx="2108606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140756" y="3221736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32196" y="3294888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4  과거 비슷한 시기의 실제 흐름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2196" y="3569208"/>
            <a:ext cx="1925726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같은 상태였던 과거 시기의 1주/1개월/3개월 실제 변화 + 변수→대두유 연결 설명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9091" y="3221736"/>
            <a:ext cx="2108606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359091" y="3221736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50531" y="3294888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5  공급 경로와 해상 위험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0531" y="3569208"/>
            <a:ext cx="1925726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산지 4곳→한국 항로, 요충 해협 상태 — 정상 항로는 설명 생략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77425" y="3221736"/>
            <a:ext cx="2108606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9577425" y="3221736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668865" y="3294888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6  주요 지표 현황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8865" y="3569208"/>
            <a:ext cx="1925726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주요 지표 최근값 · 기준일 · 추세 미니 그래프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40756" y="4186428"/>
            <a:ext cx="2108606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140756" y="4186428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232196" y="4259580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7  지정학 동향(신설)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2196" y="4533900"/>
            <a:ext cx="1925726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미국–이란 분쟁·러시아–EU 관계 검색 요약 + 통신사 지정학 기사(과거 사실 기술)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59091" y="4186428"/>
            <a:ext cx="2108606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7359091" y="4186428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450531" y="4259580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8  오늘의 시장 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0531" y="4533900"/>
            <a:ext cx="1925726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당일 뉴스·전문 매체 — 한국어 헤드라인 + 원제 + 원문 링크·인과 경로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77425" y="4186428"/>
            <a:ext cx="2108606" cy="928115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9577425" y="4186428"/>
            <a:ext cx="2108606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668865" y="4259580"/>
            <a:ext cx="192572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9  주목해야 할 일정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8865" y="4533900"/>
            <a:ext cx="1925726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수급 보고서 발표일 · 도착 소요 기간 역산일 · 정책 발효일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40756" y="5532120"/>
            <a:ext cx="6545275" cy="277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주황 = 실무자가 매일 가장 먼저 보는 두 블록(경보·과거 유사 시기)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개요(비전문가용) §3.1 브리프 화면 구성 · 용어 포인터 · 2026-09-25 지정학 동향 블록 신설 · 2026-09-27 재설계(변동일 편차·변인–기사 연결·유사 시기 사례 연결·한국어 헤드라인)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03 개요 —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데이터는 외부 공개 자료 전용이며 무료 API·수동 업로드·유료 구독 세 경로로 모으고, 사내 판매·재고 데이터는 설계상 사용하지 않음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8071865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수집 경로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654045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654045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247116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공개 무료 API (키 발급만)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2471165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FRED(미국 연준)·한국은행·통계청·USDA·NOAA·Open-Meteo·NASA 등 — 매 영업일 새벽 자동 수집(커넥터 12종)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6694" y="1828800"/>
            <a:ext cx="2654045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266694" y="1828800"/>
            <a:ext cx="2654045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58134" y="1901952"/>
            <a:ext cx="247116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수동 업로드 공개 자료 (4계열)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8134" y="2176272"/>
            <a:ext cx="2471165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관세청 수출입 실적(191파일·82,833행)·USDA 수급·무역·시세 이력·거래소 거래량 / 시장 보고서 PDF 2,227건 판독(실패 0건)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0467" y="1828800"/>
            <a:ext cx="2654045" cy="107289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030467" y="1828800"/>
            <a:ext cx="2654045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121907" y="1901952"/>
            <a:ext cx="247116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유료 구독·종량 (5종)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1907" y="2176272"/>
            <a:ext cx="2471165" cy="6339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시세 이력 구독·선물 정산가 종량·실시간 검색 크레딧·외부 AI 2종 종량 — 결제·계정 주체 확정이 인수 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02864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2648" y="3029712"/>
            <a:ext cx="8071865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유형별 정리 (정형 · 비정형)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432048"/>
          <a:ext cx="8181591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56094"/>
                <a:gridCol w="3557214"/>
                <a:gridCol w="1600746"/>
                <a:gridCol w="1067164"/>
                <a:gridCol w="800373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유형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대표 항목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경로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형태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갱신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시세·환율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대두유 선물 종가, 원/달러·헤알/달러, 미국 금리·물가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종량 + 무료 API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일별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운임·해상 위험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건화물 운임지수, 탱커 운임 대용값, 해협 통과 선박 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구독 + 무료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일별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수급·작황 / 무역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USDA 수급 전망·작황·수출, 관세청 품목·국가별 실적(대두유 + 대체·보완 14품목)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 업로드 + 공개 API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월·주·연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기후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23개 산지 기상(기온·강수·토양수분), 엘니뇨 지수, 산불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 API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일·월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지정학·정책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지정학 위험 지수, 국제 사건 기록, 해협·수출세·관세 뉴스 대용값, 미국–이란·러시아–EU 동향(9/25~)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무료 + 검색 크레딧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정형+비정형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일·월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정성·뉴스·보고서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USDA·FAO 시장 보고서 PDF, 전문 매체 소식(한국어 헤드라인), 일별 뉴스 7분류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수동 업로드·공개 + 크레딧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비정형→월별 계열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수시·일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8958834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68561" y="1426464"/>
            <a:ext cx="2617469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설계 원칙: 사내 데이터 미사용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8834" y="182880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1713" y="1828800"/>
            <a:ext cx="2526029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사내 판매·재고·구매 실적은 학습·검증·변수 어디에도 넣지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834" y="2203704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1713" y="2203704"/>
            <a:ext cx="2526029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이유: 가용량 부족 + 임시값 비중 과다 → 분석 왜곡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8834" y="2578608"/>
            <a:ext cx="201168" cy="5349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1713" y="2578608"/>
            <a:ext cx="2526029" cy="5349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따라서 3단계 손익 비교도 회사 실손익이 아닌 공개 시장가 기준 톤당 비교로 설계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8834" y="3113532"/>
            <a:ext cx="201168" cy="5349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1713" y="3113532"/>
            <a:ext cx="2526029" cy="5349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규모: 분석용 표의 지표 1,400종 이상, 비정형 신호 2,542행·18지표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프로젝트 정의서 §4(사용 데이터) · 라이브러리·프로그램 인벤토리 §2.2(유료 구독 명칭) · PoC 범위 정의서 §3(측정 2026-09-13)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04 단계별 추진 — 1단계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1단계(핵심 변인·경보·과거 유사 시기 참조)는 8월 31일 정식 가동해, 매일 주의할 변수를 통지하고 비슷했던 과거 시기의 실제 흐름을 참조로 제공함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643554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8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목표와 실무 기대효과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01168" cy="35570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8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6344107" cy="3557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목표 — "지금 무엇을 봐야 하는가"를 알려 줌. 가격과 함께 움직인 지표를 순위로 뽑고, 평소 범위를 벗어난 지표에 경보를 붙임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84501"/>
            <a:ext cx="201168" cy="35570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8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84501"/>
            <a:ext cx="6344107" cy="3557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기대효과 ① 주의 변수 통지 — 실무자가 매일 볼 수 없는 수백 개 지표를 시스템이 대신 감시하고 벗어난 것만 올림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40203"/>
            <a:ext cx="201168" cy="35570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8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40203"/>
            <a:ext cx="6344107" cy="3557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기대효과 ② 과거 유사 시기 참조 — 지표가 지금과 같은 수준이던 과거 날짜들 이후 1주/1개월/3개월 실제 가격 변화를 분포로 제시(예측이 아닌 관측 요약)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95904"/>
            <a:ext cx="201168" cy="35570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8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5904"/>
            <a:ext cx="6344107" cy="3557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기대효과 ③ 정량+비정형 하이브리드 — 상위 변인마다 검증된 인과 경로와 최근 14일 기사(외교 사건·발언 포함)를 함께 붙여 '왜 이 변인인가'를 설명(9/27 재설계)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51606"/>
            <a:ext cx="201168" cy="20528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8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51606"/>
            <a:ext cx="6344107" cy="20528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기대효과 ④ 검증 가능한 기록 — 그날 무엇을 검사했고 무엇이 없었는지 매일 기록해 남김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56889"/>
            <a:ext cx="201168" cy="20528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8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56889"/>
            <a:ext cx="6344107" cy="20528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약속하지 않는 것 — 절감액·수익률 등 금액 성과는 수치로 약속하지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2251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32243" y="1426464"/>
            <a:ext cx="42537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8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산출물 3가지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2515" y="1828800"/>
            <a:ext cx="1381353" cy="1038148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322515" y="1828800"/>
            <a:ext cx="1381353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13955" y="1901952"/>
            <a:ext cx="119847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핵심 변인 순위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3955" y="2176272"/>
            <a:ext cx="1198473" cy="5992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93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가격 움직임과 함께 움직인 상위 변인 5개 + 방향 + 연결 근거·기사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13596" y="1828800"/>
            <a:ext cx="1381353" cy="1038148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813596" y="1828800"/>
            <a:ext cx="1381353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05036" y="1901952"/>
            <a:ext cx="119847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경보 목록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5036" y="2176272"/>
            <a:ext cx="1198473" cy="5992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93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기준 초과 지표 + 근거. 없으면 '이상 없음(검사 완료)'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04678" y="1828800"/>
            <a:ext cx="1381353" cy="1038148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0304678" y="1828800"/>
            <a:ext cx="1381353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96118" y="1901952"/>
            <a:ext cx="119847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과거 유사 시기 실측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96118" y="2176272"/>
            <a:ext cx="1198473" cy="5992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93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1주/1개월/3개월 뒤 실제 분포 + 인과 연결된 사례 배지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22515" y="30681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432243" y="2994964"/>
            <a:ext cx="425378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8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현재 상태 (사실 기준)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2515" y="3397300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322515" y="339730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50531" y="3433876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91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8/31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0531" y="3817924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8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정식 가동일(이후 무개입 연속 성공)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72853" y="3397300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572853" y="339730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700869" y="3433876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91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20/20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0869" y="3817924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8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정기 실행 작업 성공(9/15~9/24 8회 연속)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22515" y="4421428"/>
            <a:ext cx="2113178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322515" y="4421428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450531" y="4458004"/>
            <a:ext cx="1930298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91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1,400+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0531" y="4842052"/>
            <a:ext cx="1930298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8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분석용 표의 지표 수(같은 시점 값 충돌 0건)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22515" y="5536996"/>
            <a:ext cx="4363516" cy="520293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50531" y="5619292"/>
            <a:ext cx="4107484" cy="37398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6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남은 일(진행 중): 경보 기준 일부의 평가 코드 보완 · 방법론 확장과 경보 기준 재조정 → 인수 후 첫 개선 항목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프로젝트 정의서 §1-1 · 작업정의서 ③ 분석·보고 · 개요(비전문가용) §5 · 일일 검사 기록(2026-09-25)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04 단계별 추진 — 2·3단계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2단계(확률 가격 범위)는 실시간 검증이 2027년 이후에야 가능해 준비 패키지로 동결하고, 3단계(구매 시점 시뮬레이션)는 설계 단계에 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2단계 — 확률 가격 범위: 무엇이고 왜 동결하나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무엇 — 1일/1주/1개월/3개월 뒤 가격의 P10·P50·P90 범위와 상승 확률. 방법 조합은 확정, 과거 구간 재현 검증은 지금도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03704"/>
            <a:ext cx="201168" cy="5349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03704"/>
            <a:ext cx="5253227" cy="5349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왜 동결 — 실시간 실적이 쌓이기 전까지는 "과거 표본에서 재현한 범위"까지만 말할 수 있고, 미검증 확률 산출물을 의사결정에 넣는 것은 규율 위반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8628"/>
            <a:ext cx="201168" cy="3749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38628"/>
            <a:ext cx="5253227" cy="3749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동결의 의미 — 설계·데이터 목록·과거 재현 검증 절차·준비도 판정을 정본으로 보관. 1단계 정식판을 현 시점 최종 산출물로 확정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5127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2648" y="327812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재개 조건 4가지 (모두 충족 시 별도 승인으로 재개)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80460"/>
            <a:ext cx="5454395" cy="85953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0936" y="3762756"/>
            <a:ext cx="5198363" cy="7132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① 승인된 추가 시장 데이터 3종(대두박·대두 정산가, 옵션 내재변동성) 수령·분석용 표 편입  ② 시세 이력의 일별 갱신 밀도 해소  ③ 운영 실행 환경 확정  ④ 인수 측이 1단계 산출물 해석 훈련을 마친 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9452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2648" y="4686300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3단계 — 구매 시점·물량 3-시뮬레이션: 설계 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88636"/>
            <a:ext cx="5454395" cy="7802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실무자의 "내 구매 시점·물량이 적절했나" 질문에 ①지금 사는 경우 ②미리 정한 다른 시점 ③나눠 사는 경우의 손익 차이를 비교해 답함. 설계 근거 문헌까지 확정, 구현 미착수. 2단계 확률 범위 가동 후 착수하며, 회사 실손익이 아닌 공개 시장가 기준 톤당 비교로 산출함.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41363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검증에 필요한 기간 — 가동일을 9/10으로 가정한 산술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5" y="1828800"/>
            <a:ext cx="174497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86499" y="1828800"/>
            <a:ext cx="163525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9/10 가동(가정)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5" y="2157984"/>
            <a:ext cx="1744979" cy="580643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4787" y="2203704"/>
            <a:ext cx="1598675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과거 표본 재현 검증만 가능 · 실시간 실적 0건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6343" y="1828800"/>
            <a:ext cx="174497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41207" y="1828800"/>
            <a:ext cx="163525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10월 1·5일 지평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6343" y="2157984"/>
            <a:ext cx="1744979" cy="580643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59495" y="2203704"/>
            <a:ext cx="1598675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수십 건 누적 → 짧은 지평부터 실시간 성적 보고 시작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41051" y="1828800"/>
            <a:ext cx="1744979" cy="329184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95915" y="1828800"/>
            <a:ext cx="163525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12/03 60일 첫 해소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1051" y="2157984"/>
            <a:ext cx="1744979" cy="580643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014203" y="2203704"/>
            <a:ext cx="1598675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3개월 범위의 실측 대조 1건 — '사례'이지 성적 아님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1635" y="2793491"/>
            <a:ext cx="1744979" cy="329184"/>
          </a:xfrm>
          <a:prstGeom prst="rect">
            <a:avLst/>
          </a:prstGeom>
          <a:solidFill>
            <a:srgbClr val="5D61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86499" y="2793491"/>
            <a:ext cx="1635251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2027-09 비중복 4건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31635" y="3122675"/>
            <a:ext cx="1744979" cy="580643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04787" y="3168396"/>
            <a:ext cx="1598675" cy="4892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계절 1주기 포함 → '실시간 포함률을 관측한 범위'로 격상 가능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1635" y="3849624"/>
            <a:ext cx="5454395" cy="53949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59651" y="3931920"/>
            <a:ext cx="5198363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→ 어느 쪽이든 검증 창은 2027년 이후. 그 전까지 범위를 '확률'이라 부르지 않는 것이 규율임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2단계 추가 데이터 요구 정리(2026-09-09) §4 표 C·§7 · 결정 대기 목록(2단계 범위 재정의 — 동결 승인) · 프로젝트 정의서 §1-1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04 전략 — 신뢰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신뢰는 "맞출 자신"이 아니라 매일 무엇을 검사했는지를 남기는 네 가지 원칙으로 확보하며, 이 원칙은 인수 후에도 그대로 유지되어야 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02920" y="1453896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1453896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426464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발표 시점 기준 정렬 — 발표 전 정보는 쓰지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700784"/>
            <a:ext cx="4997195" cy="816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모든 숫자에 "이 값을 언제부터 실제로 알 수 있었는가"를 붙임(예: 8월 수급 보고서는 8/12 발표 → 8/1 분석에 사용 금지). 없으면 모델이 과거를 볼 때 미래를 곁눈질해 실제로는 낼 수 없는 성적이 나옴. 최근 실행 위반 0건. 수정된 값은 덮어쓰지 않고 회차별로 따로 보관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45080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2545080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17648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이상 없음(검사 완료) — 침묵과 정상을 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91968"/>
            <a:ext cx="4997195" cy="664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경보가 없는 날 아무 말도 없으면 "평온한 것"과 "시스템이 멈춘 것"을 구별할 수 없음. 이상이 없는 날에도 "오늘 무엇을 검사했고 결과가 어땠는지"를 한 줄로 기록(날짜·판정·검사·경보 수). 사슬이 어디서 멈췄든 이 기록은 남음 → 매일 한 줄씩 쌓이는지가 첫 점검 항목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1635" y="1453896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1635" y="1453896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0547" y="1426464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품질 검사 — 확실하지 않으면 멈춤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0547" y="1700784"/>
            <a:ext cx="4997195" cy="8168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품질 점수 5항목(정확도·완전성·일관성·신선도·분포) 가중 합산, 0.70 이상 통과 + 구조·이상치 검사 + 자동 테스트. "0(교역 없음)"과 "빈칸(미보고)"을 구분 — 섞으면 물량이 부풀려짐. 같은 시점에 값이 둘이면 임의로 고르지 않고 실패시킴(값 충돌 48,789건 → 0건)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1635" y="2545080"/>
            <a:ext cx="329184" cy="329184"/>
          </a:xfrm>
          <a:prstGeom prst="round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31635" y="2545080"/>
            <a:ext cx="329184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청정원고딕 B"/>
                <a:ea typeface="청정원고딕 B"/>
                <a:cs typeface="청정원고딕 B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0547" y="2517648"/>
            <a:ext cx="499719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외부 AI 교차검증 — 산출물을 한 번 더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0547" y="2791968"/>
            <a:ext cx="4997195" cy="664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분석 코드·시장 보고서·용어 파일이 바뀌면 외부 대형 언어모델로 재점검하고 판정을 기록에 누적(누적 205건 — 판정 144·미판정 61은 재검증 대상). 검증 전에는 확률·전망 표현을 화면에 쓰지 않도록 금지어 자동 검사 병행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프로젝트 정의서 §5(처리 원칙) · 작업정의서 ②·⑥ · 용어 포인터 · 교차검증 누적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05 예상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예상 리스크는 정확도 한계·데이터 소스 장애·고도화 자원(인력·비용·일정)·지식 이전이며, 각각 설계와 문서 체계로 완화 장치를 갖춤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311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23305"/>
                <a:gridCol w="3659927"/>
                <a:gridCol w="3659927"/>
                <a:gridCol w="2439951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리스크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완화 장치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잔여 위험·요청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정확도 한계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1단계 산출물은 예측이 아닌 '참조'(진단·과거 관측 요약). 확률 산출물(2단계)은 검증 전이며, 오독 시 조달 판단 오류로 이어질 수 있음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화면에 한계 문구 상시 표기 + 금지어 자동 검사 · 검증 전 확률 산출물은 의사결정 투입 금지(동결) · 담당자 승인 절차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인수 측 해석 훈련 필요(2~3회) · 경보 기준 일부 평가 코드 미완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데이터 소스 장애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외부 기관 API 장애·응답 형식 변경·시간대별 접속 불안정. 9/25 종합 점검: 오류 31건 중 수집 단계 16건(외부 장애·형식 변경이 다수)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비치명 설계(하나 실패해도 나머지 진행) · 대체 소스 폴백 · 수동 업로드 이력으로 커버 · 실패는 기록으로 표면화 · 유형별 원인·해결 보고서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외부 접속 허용 목록 유지 · 수동 업로드 계열의 주기적 갱신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고도화 자원 — 인력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운영은 1인으로 가능하나, 2·3단계 고도화와 방법론 확장에는 데이터 분석 관점의 지원이 필요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운영 담당 1인(일별·월별 점검) + 데이터 분석 관점 지원(주 단위 자문) 구조 · 인수인계 문서 7종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고도화 시점에 분석 인력 배정 결정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고도화 자원 — 비용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구독 5종(시세 이력 구독·선물 정산가 종량·실시간 검색 크레딧·외부 AI 2종 종량) — 월 단위 수십~수백 달러 수준. 정확 금액은 계약·청구 기준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알려진 금액 기준 연 약 2,100~3,900달러 범위(견적 항목 제외) · 추가 유료 소스는 결정 대기 목록으로 관리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구독 5종의 법인 귀속·갱신 승인(끊기면 수집 정지)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고도화 자원 — 일정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2단계 실시간 검증은 60거래일 지평 첫 해소가 12월 초, 계절 1주기 포함 표본은 2027-09에야 확보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준비 패키지 동결 + 재개 조건 4가지 명시 · 짧은 지평(1·5일)부터 실시간 성적 보고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2단계 재개는 2027 1분기 이후 검증 가능 — 별도 승인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인수 시 지식 이전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발표 시점 정렬·품질 검사·일일 검사 기록 등 운영 규율을 모르면 '실패=고장'으로 오인하거나 조용한 통과로 되돌릴 위험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문서 체계(정의서·개요·작업정의서·워크플로우 지도·용어·기록 찾는 법·PoC 범위 정의서) · 결정·실패 기록 월별 보관 · 5분 점검 체크리스트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인수 직후 체크리스트 수행 확인 · 결정 대기 목록 기한 항목 정리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프로젝트 정의서 §2.3·§3 · 2단계 추가 데이터 요구 정리 §5(유료 항목 비용) · 작업정의서 ⑤ 운영·이관 · 워크플로우 오류 종합 보고(2026-09-25) — 금액은 계약·청구 기준으로 재확인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06 유지보수·지원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유지보수는 일별 5분 점검·실패 시 조치 순서·월 1회 점검으로 구성되어 운영 담당 1인이 수행할 수 있으며, 문서 7종이 인수 지식을 뒷받침함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26464"/>
            <a:ext cx="3654551" cy="165201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02920" y="1426464"/>
            <a:ext cx="3654551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499616"/>
            <a:ext cx="34716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日  일별 점검 (5분)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3471671" cy="12131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브리프가 발행됐는가 — 최신 브리프 1장 열어 "미수집" 빈 블록 수 확인 / 품질 검사 상태 — 신뢰 스트립이 초록인가 / 일일 검사 기록 마지막 날짜가 어제(영업일)인가 / 실행 이력 최근 3회가 정상인가, 멈춘 지점이 수집인가 검사인가 / 뉴스 신호 파일의 마지막 날짜가 어제인가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199" y="1426464"/>
            <a:ext cx="3654551" cy="165201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267199" y="1426464"/>
            <a:ext cx="3654551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58639" y="1499616"/>
            <a:ext cx="34716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!  실패 시 조치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39" y="1773936"/>
            <a:ext cx="3471671" cy="12131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① 멈춘 지점 확인 — 수집 단계면 외부 기관 문제일 가능성이 큼(대기 후 수동 재실행) / ② 검사 단계면 "데이터가 나쁜 것"인지 "파일이 안 온 것"인지 구분 / ③ "값 충돌"이면 지표 이름에 지역·국가 구분이 빠졌는지 의심 / ④ 조치 후 수동 재실행 → 일일 검사 기록에 한 줄 남는지 확인 / ⑤ 원인·조치를 결정·실패 기록에 한 줄 기록(오류 종합 보고서 양식: 제목·내용·예상 원인·지원 필요)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1480" y="1426464"/>
            <a:ext cx="3654551" cy="1652016"/>
          </a:xfrm>
          <a:prstGeom prst="rect">
            <a:avLst/>
          </a:prstGeom>
          <a:solidFill>
            <a:srgbClr val="FFFFFF"/>
          </a:solidFill>
          <a:ln w="9144">
            <a:solidFill>
              <a:srgbClr val="E0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31480" y="1426464"/>
            <a:ext cx="3654551" cy="4572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122920" y="1499616"/>
            <a:ext cx="34716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月  월 1회 점검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2920" y="1773936"/>
            <a:ext cx="3471671" cy="12131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수동 업로드 데이터 갱신 — 관세청 실적·USDA 수급·시세 이력·거래소 거래량(빈 서식 파일 여부 포함) / 유료 구독 5종 갱신·잔여 크레딧 확인(끊기면 수집 정지) / 외부 API 키 만료·포털 재승인 여부 / 결정 대기 목록 기한 항목 정리 · 교차검증 미판정 건 재검증 계획 / 주간 진행 현황 초안(자동 생성) 검토·확정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24428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2648" y="3351276"/>
            <a:ext cx="1107338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문서 포인터 — 인수 지식의 근거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3753612"/>
          <a:ext cx="11183111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89773"/>
                <a:gridCol w="6474433"/>
                <a:gridCol w="2118905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문서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무엇이 있나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누가·언제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프로젝트 정의서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최종 목표·단계별 목표(1·2·3단계), 필요성, 분석 유형, 사용 데이터, 처리 방법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모두 · 가장 먼저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개요(비전문가용)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3분 요약, 매일 아침 무슨 일이 일어나는지, 브리프 화면 읽는 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모두 · 처음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작업정의서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지금까지 한 일 전체를 6가지 작업 유형으로 정리(목적·입력·출력·주기·상태·인수 후 첫 행동)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인수 주체 · 실무 인계 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워크플로우 지도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자동 실행 19종이 무엇이고 언제 도는지, 결과를 어디서 보는지, 인수 직후 5분 체크리스트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운영 담당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용어 포인터 · 기록 찾는 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핵심 용어 20개 한 줄 설명 + 전체 용어집 위치 · 결정·실패 기록을 되짚는 표준 경로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막힐 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PoC 범위 정의서(+docx·요약 pptx·xlsx)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범위 In/Out · 데이터 자산 실측표 · 검증 실적 · 후속 단계 · 최소 운영 요건 — 재생성 빌더로 4형식 동시 갱신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구매팀장·실무자·부서장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워크플로우 지도 §3~§4(인수 직후 점검 체크리스트) · 작업정의서 ⑤·⑥ · 인수인계 패키지 README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06 승인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승인 요청 사항은 운영 이관·유지보수 체계, 유료 구독 5종의 법인 귀속, 2단계 동결·재개 조건, 인수 측 해석 훈련의 네 가지임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311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38553"/>
                <a:gridCol w="2850597"/>
                <a:gridCol w="6797577"/>
                <a:gridCol w="1096383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요청 사항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시점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1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운영 이관·유지보수 체계 승인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운영 담당 1인 지정 · 일별 5분 점검 + 월 1회 점검 루틴 채택 · 실패 알림을 받을 사람·경로 확정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즉시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2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구독 5종의 법인 귀속·갱신 승인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시세 이력 구독 · 선물 정산가 종량 · 실시간 검색 크레딧 · 외부 AI 2종 종량 — 결제·계정 주체를 회사 명의로 정리(끊기면 수집 정지)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9월 중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3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2단계 준비 패키지 동결·재개 조건 확인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9/10 'Preview' 마일스톤을 '준비 패키지 동결'로 재정의한 사실과 재개 조건 4가지 인지 · 재개는 별도 승인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확인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4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인수 측 해석 훈련 일정 승인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1단계 산출물(핵심 변인·경보·과거 유사 시기)을 읽는 훈련 2~3회 · 인수 직후 5분 체크리스트 실습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9~10월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3264408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3191256"/>
            <a:ext cx="11073384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다음 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93592"/>
            <a:ext cx="11183111" cy="53949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0936" y="3675888"/>
            <a:ext cx="10927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승인 후 2주: 운영 담당 인계·체크리스트 실습 → 9~10월: 해석 훈련·수동 업로드 계열 갱신·경보 기준 평가 코드 보완 → 2027년 이후: 2단계 재개 조건 충족 여부 점검 후 별도 승인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본 보고서 전체 · 결정 대기 목록(2026-09) · 작업정의서 ⑤ 운영·이관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07 최근 개선(2026-09-25~27)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9월 25~27일에 지정학 동향을 브리프에 편입하고, 검증에서 지적된 4가지 논리 결함을 재설계했으며, 오류 종합 보고와 시장구조 갱신을 마침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02920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4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브리프 재설계 4건 — 지적 → 원인 → 해결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5454394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374"/>
                <a:gridCol w="1729442"/>
                <a:gridCol w="2261578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지적 사항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확인된 원인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해결(2026-09-27)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주요 변동일 4건의 변인 편차가 모두 같은 값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표시용 조회가 분석 기간(2025-12 종료) 통합 표의 마지막 행을 반복 읽음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그 날짜 기준 원시 계열로 90일 편차를 계산 · 관측이 멀면 '당시 값 없음' · 당시 신호는 매체·값 변경 요약 우선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핵심 변인 5개에 기사가 붙지 않음(정량만 의존)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에너지·거래량·수입 실적 변인의 키워드 사전 부재 · 매칭 창 5일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온톨로지에서 키워드·인과 경로를 파생, 창 14일, 지정학 기사 포함, 변인마다 '연결 근거' 한 줄(미등재는 '상관 기반 참고')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유사 시기 사례가 변수와 무관(난방유–아르헨 가뭄)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사례 배지가 날짜 겹침만 검사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사례별 관련 변수 등재 → 날짜 겹침 AND 인과 관련일 때만 배지 · 변수→대두유 연결 설명 추가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뉴스·매체가 영문 원제 그대로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수집 단계에 요약기 없음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693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수집 단계에서 기사별 한국어 헤드라인 생성(정확도 우선 외부 언어모델·캐시·일 상한) — 원제는 보조줄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231635" y="1499616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41363" y="1426464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4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지정학 동향 편입(9/25)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5" y="1828800"/>
            <a:ext cx="201168" cy="30129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39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5" y="1828800"/>
            <a:ext cx="5253227" cy="3012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8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미국–이란 분쟁·러시아–EU 관계 검색 요약 2종 + 통신사 지정학 기사 레인 신설 → 브리프 '지정학 동향' 블록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5" y="2130094"/>
            <a:ext cx="201168" cy="17807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39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5" y="2130094"/>
            <a:ext cx="5253227" cy="1780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8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호르무즈 위협 서사 보존, 요약 [유의]에 지정학 관찰 한 줄(방향 판단 아님)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5" y="2545918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41363" y="2472766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4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오류 종합 보고(9/25)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5" y="2875102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31635" y="2875102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9651" y="2911678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6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31건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9651" y="3295726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4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오류를 4유형(수집 16·처리 6·분석 4·발행 5)으로 분류, 항목별 원인·해결·지원 필요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7413" y="2875102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027413" y="2875102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5430" y="2911678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6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4회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5430" y="3295726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4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당일 재발사 사유 사슬(생산량 커넥터→집계 키→기록 충돌→마케팅연도 경계) 전부 해소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5" y="3899230"/>
            <a:ext cx="2658617" cy="932688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31635" y="3899230"/>
            <a:ext cx="54864" cy="932688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59651" y="3935806"/>
            <a:ext cx="2475737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86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159건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9651" y="4319854"/>
            <a:ext cx="2475737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4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회귀 테스트(154→159) · 이후 재설계 테스트 15건 추가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5" y="5087950"/>
            <a:ext cx="54864" cy="182880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41363" y="5014798"/>
            <a:ext cx="5344667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4" b="1">
                <a:solidFill>
                  <a:srgbClr val="3B3B3B"/>
                </a:solidFill>
                <a:latin typeface="청정원고딕 B"/>
                <a:ea typeface="청정원고딕 B"/>
                <a:cs typeface="청정원고딕 B"/>
              </a:rPr>
              <a:t>시장구조 갱신(9/25)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1635" y="5417134"/>
            <a:ext cx="201168" cy="30129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39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4515" y="5417134"/>
            <a:ext cx="5253227" cy="3012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8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압착·정제 증설(미국·브라질·아르헨티나·베트남·캐나다), 기업 실적 귀속(바이오연료 정책·에너지), 아르헨 수출세 종착 수치, 한국 GMO 표시제 시행일을 검증 후 온톨로지에 반영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1635" y="5718429"/>
            <a:ext cx="201168" cy="30129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39" b="0">
                <a:solidFill>
                  <a:srgbClr val="FC5107"/>
                </a:solidFill>
                <a:latin typeface="청정원고딕 R"/>
                <a:ea typeface="청정원고딕 R"/>
                <a:cs typeface="청정원고딕 R"/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4515" y="5718429"/>
            <a:ext cx="5253227" cy="3012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8" b="0">
                <a:solidFill>
                  <a:srgbClr val="3B3B3B"/>
                </a:solidFill>
                <a:latin typeface="청정원고딕 R"/>
                <a:ea typeface="청정원고딕 R"/>
                <a:cs typeface="청정원고딕 R"/>
              </a:rPr>
              <a:t>세계 유지류 수급(USDA 9월호·FAO 지수·EPA 최종 규정·인니 B50)을 인과 경로 근거로 등재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워크플로우 오류 종합 보고(2026-09-25) · 유지류 시장구조 최신 자료 수집·온톨로지 반영(2026-09-25) · 브리프 재설계 회귀 테스트(2026-09-27)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부록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부록 A. 사내 분석과제 양식 — 과제 정의·활용 가치사슬·데이터·분석 내용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5454395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55689"/>
                <a:gridCol w="4398706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과제명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Nexus — 수입 대두유 조달 판단 지원 체계(핵심 변인·경보·과거 유사 시기 참조 → 확률 가격 범위 → 구매 시점·물량 시뮬레이션)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추진목적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수입 대두유의 구매 시점·물량 판단 근거를 매일 자동 산출·기록해, 직관·사후 대응 중심의 조달을 데이터 기반 선제 판단으로 전환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주활용 VC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구매/조달 (원료 조달 판단 지원 · 스팟 계약 협상 시 참고) — 판단은 담당자 승인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분석 유형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①현황(주요 지표) ②진단(변인 중요도·경보) ③참조(과거 유사 시기 실측) — 가동 / ④확률 예측(가격 범위) — 준비·동결 / ⑤처방·시뮬레이션 — 설계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배경 및 필요성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AS-IS: 뒤늦은 뉴스·무료 지수 추종, 실무자 직관 의존, 도착 소요 기간 약 3개월의 위험을 사후 발견</a:t>
                      </a:r>
                    </a:p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TO-BE: 매 영업일 자동 수집·검사·분석 → 일일 브리프 1장, 주의 변수 통지, 과거 유사 시기 참조, 매일 검사 기록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분석 목표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1단계 핵심 변인 순위·경보·과거 유사 시기 실측 참조(정식 가동 2026-08-31) / 2단계 1·5·20·60거래일 확률 가격 범위 P10·P50·P90(준비 패키지 동결) / 3단계 현시점·대안 시점·분할 구매 3-시뮬레이션 근사 손익(설계)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31635" y="1426464"/>
          <a:ext cx="5454394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18132"/>
                <a:gridCol w="1398563"/>
                <a:gridCol w="769209"/>
                <a:gridCol w="699281"/>
                <a:gridCol w="769209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데이터명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출처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공개/비공개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정형/비정형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기간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대두유 선물 정산가·교차검증 종가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선물 이력 종량 · 무료 대조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종량·공개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일별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환율·금리·물가·변동성 지수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FRED · 한국은행 · 통계청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일·월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운임지수·해협 통과 선박·탱커 운임 대용값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시세 이력 구독 · 공개 선박 위치 · 검색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유료 구독·공개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일별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수급·작황·수출(WASDE·PSD·NASS·ESR)·미국 무역통계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USDA(수동 업로드+공개 API)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월·주·연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관세청 품목·국가별 수출입 실적(대두유·대체재 14품목)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공공데이터포털(관세청)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2010~26.08 월별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23개 산지 기상·엘니뇨·산불 / 지정학 지수·국제 사건·정책·분쟁 동향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Open-Meteo·NOAA·NASA / GDELT·USGS·검색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공개·유료 크레딧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정형+비정형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일·월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시장 보고서 PDF·전문 매체·일별 뉴스(한국어 헤드라인)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USDA GAIN · FAO AMIS · 매체 RSS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공개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비정형→월별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2010~ 수시·일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31635" y="4550968"/>
          <a:ext cx="5454395" cy="4389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58706"/>
                <a:gridCol w="4195689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주요 분석 내용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핵심 변인 순위(공선성 제어 회귀 + 트리 모델 기여도 + 시차 인과) · 기준 초과 경보 · 과거 유사 시기 실측 분포(1주/1개월/3개월) · 참고 도착가 범위 · [준비] 확률 가격 범위 · [설계] 3-시뮬레이션 톤당 기회손실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데이터 전처리/분석 항목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792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발표 시점 기준 정렬(가용 시각 부여·개정 회차 보관) · 품질 검사(5항목 가중 점수 0.70 이상·구조/이상치·자동 테스트) · 0과 결측 구분 · '날짜×지표' 격자표(값 충돌 시 중단) · 표준화 지수·수익률 산출 · 비정형 문서 판독→신호 태그→월별 계열화 · 일일 검사 기록 · 외부 AI 교차검증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프로젝트 정의서 §1~§5 · README §QR · 라이브러리·프로그램 인벤토리 §2.2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부록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부록 B. 자주 나오는 용어 8가지 — 브리프를 읽을 때 이 정도면 충분함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3111" cy="19751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36622"/>
                <a:gridCol w="5032400"/>
                <a:gridCol w="3914089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용어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쉬운 풀이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읽을 때 주의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대두유 (조유 / 정제유)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콩에서 짜낸 기름. 짜낸 그대로가 조유, 걸러서 정제한 것이 정제유 — 우리가 사는 원료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관세청 통계는 조유·정제유 코드가 다름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선물 종가 (시카고 거래소)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시카고 거래소 대두유 선물의 마감 가격. 이 프로젝트의 기준 가격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한국 도착 가격이 아님 — 참고 도착가 범위로 별도 환산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재고사용비율 (STU)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남은 재고 ÷ 한 해 쓰는 양. 낮을수록 "빠듯하다" — 가격 압력의 대표 지표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월별 수급 보고서 발표일 이후에만 반영됨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발표 시점 기준 정렬 (as-of)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"그날 실제로 알 수 있었던 정보만 쓴다"는 1순위 규칙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이 값이 없는 지표는 분석에 넣지 않음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품질 검사 / 확실하지 않으면 멈춤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5항목 점수로 통과·경고·불합격을 판정하는 관문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멈춤은 고장이 아니라 설계 — 원인부터 구분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이상 없음(검사 완료)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경보가 없는 날에도 "검사했고 이상 없음"을 남기는 일일 기록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침묵(멈춤)과 정상을 구분하는 근거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과거 유사 시기 참조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지표가 지금과 같던 과거 날짜들의 이후 실제 변화를 모아 보여 주는 것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예측이 아니라 관측 요약. 표본 8회 미만이면 비움 · 사례 배지는 인과 연결된 경우에만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P10 / P50 / P90 (확률 범위)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하위 10% / 가운데 / 상위 10% 지점 — 하나의 값이 아니라 범위로 말하는 방식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2단계 가동 전까지 화면의 범위는 '참고 범위'이지 확률이 아님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550282"/>
            <a:ext cx="11183111" cy="53949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" y="4632578"/>
            <a:ext cx="10927080" cy="3931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자주 헷갈리는 세 가지: ① "참고 범위"는 확률이 아님  ② 경보는 '사건'이 아니라 '상태'(들어가고 나올 때 알림)  ③ 0(교역 없음)과 빈칸(미보고)은 다름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용어 포인터(꼭 알아야 할 20개) · 위키 용어집 · 비전문가 용어 치환(2026-09-25)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부록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1185855" cy="8046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3B3B3B"/>
                </a:solidFill>
                <a:latin typeface="청정원명조 B"/>
                <a:ea typeface="청정원명조 B"/>
                <a:cs typeface="청정원명조 B"/>
              </a:rPr>
              <a:t>부록 C. 비전문가 용어 교체(2026-09-25) — 브리프·인수인계 문서에서 바꾼 대표 표현 12가지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822960" cy="36576"/>
          </a:xfrm>
          <a:prstGeom prst="rect">
            <a:avLst/>
          </a:prstGeom>
          <a:solidFill>
            <a:srgbClr val="FC5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26464"/>
          <a:ext cx="1118311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31111"/>
                <a:gridCol w="3160444"/>
                <a:gridCol w="2431111"/>
                <a:gridCol w="3160444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이전 표현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바꾼 표현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이전 표현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청정원고딕 B"/>
                          <a:ea typeface="청정원고딕 B"/>
                          <a:cs typeface="청정원고딕 B"/>
                        </a:rPr>
                        <a:t>바꾼 표현</a:t>
                      </a:r>
                    </a:p>
                  </a:txBody>
                  <a:tcPr marL="54864" marR="54864" marT="27432" marB="27432" anchor="ctr">
                    <a:solidFill>
                      <a:srgbClr val="5D616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게이트 / 게이트 통과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품질 검사 / 검사 통과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원장(경보·교차검증·결정)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경보 기록부 / 교차검증 기록 / 결정·실패 기록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시점 정합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발표 시점 기준 정렬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파이프라인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자동 처리 절차 / 일별 자동 실행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스탬프 / 서명된 무소식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일일 검사 기록 / 검사 완료·이상 없음 기록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리드타임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도착 소요 기간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잔차층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실측 차이(운임·프리미엄 포함)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몬테카를로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무작위 결합 계산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십분위 / 분위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10등분 구간 / 구간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컨센서스 / 서프라이즈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시장 예상치 / 예상과의 차이</a:t>
                      </a:r>
                    </a:p>
                  </a:txBody>
                  <a:tcPr marL="54864" marR="54864" marT="27432" marB="27432" anchor="t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3B3B3B"/>
                          </a:solidFill>
                          <a:latin typeface="청정원고딕 R"/>
                          <a:ea typeface="청정원고딕 R"/>
                          <a:cs typeface="청정원고딕 R"/>
                        </a:rPr>
                        <a:t>레짐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시장 국면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커넥터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0">
                          <a:solidFill>
                            <a:srgbClr val="3B3B3B"/>
                          </a:solidFill>
                          <a:latin typeface="청정원명조 R"/>
                          <a:ea typeface="청정원명조 R"/>
                          <a:cs typeface="청정원명조 R"/>
                        </a:rPr>
                        <a:t>자동 수집 연결</a:t>
                      </a:r>
                    </a:p>
                  </a:txBody>
                  <a:tcPr marL="54864" marR="54864" marT="27432" marB="27432" anchor="t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3410711"/>
            <a:ext cx="11183111" cy="379476"/>
          </a:xfrm>
          <a:prstGeom prst="rect">
            <a:avLst/>
          </a:prstGeom>
          <a:solidFill>
            <a:srgbClr val="FF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" y="3493007"/>
            <a:ext cx="10927080" cy="2331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B3B3B"/>
                </a:solidFill>
                <a:latin typeface="청정원명조 R"/>
                <a:ea typeface="청정원명조 R"/>
                <a:cs typeface="청정원명조 R"/>
              </a:rPr>
              <a:t>원칙: 코드 식별자·연구 문서·결정 기록의 원문은 유지하고, 사람이 읽는 화면·문서만 바꿈. 첫 등장 시 필요하면 괄호로 원어 1회 병기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82512"/>
            <a:ext cx="11185855" cy="10972"/>
          </a:xfrm>
          <a:prstGeom prst="rect">
            <a:avLst/>
          </a:prstGeom>
          <a:solidFill>
            <a:srgbClr val="E0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출처: 비전문가 용어 치환 조사(2026-09-25, 후보 62개 중 치환 44) · 화면 금지 용어 자동 검사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4652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6B6F76"/>
                </a:solidFill>
                <a:latin typeface="청정원고딕 R"/>
                <a:ea typeface="청정원고딕 R"/>
                <a:cs typeface="청정원고딕 R"/>
              </a:rPr>
              <a:t>Nexus 인수인계 보고 · 2026-09 · 사내 한정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FC5107"/>
                </a:solidFill>
                <a:latin typeface="청정원고딕 B"/>
                <a:ea typeface="청정원고딕 B"/>
                <a:cs typeface="청정원고딕 B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